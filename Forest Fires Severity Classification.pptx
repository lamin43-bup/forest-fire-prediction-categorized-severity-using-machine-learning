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5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6" r:id="rId28"/>
    <p:sldId id="287" r:id="rId29"/>
    <p:sldId id="288" r:id="rId30"/>
    <p:sldId id="280" r:id="rId31"/>
    <p:sldId id="281" r:id="rId32"/>
    <p:sldId id="282" r:id="rId33"/>
    <p:sldId id="283" r:id="rId34"/>
    <p:sldId id="284" r:id="rId35"/>
  </p:sldIdLst>
  <p:sldSz cx="18288000" cy="10287000"/>
  <p:notesSz cx="6858000" cy="9144000"/>
  <p:embeddedFontLst>
    <p:embeddedFont>
      <p:font typeface="Arimo" panose="020B0604020202020204" charset="0"/>
      <p:regular r:id="rId37"/>
    </p:embeddedFont>
    <p:embeddedFont>
      <p:font typeface="Arimo Bold" panose="020B0604020202020204" charset="0"/>
      <p:regular r:id="rId38"/>
    </p:embeddedFont>
    <p:embeddedFont>
      <p:font typeface="Arimo Bold Italics" panose="020B0604020202020204" charset="0"/>
      <p:regular r:id="rId39"/>
    </p:embeddedFont>
    <p:embeddedFont>
      <p:font typeface="Canva Sans Bold" panose="020B0604020202020204" charset="0"/>
      <p:regular r:id="rId40"/>
    </p:embeddedFont>
    <p:embeddedFont>
      <p:font typeface="DM Sans" pitchFamily="2" charset="0"/>
      <p:regular r:id="rId41"/>
      <p:bold r:id="rId42"/>
      <p:italic r:id="rId43"/>
      <p:boldItalic r:id="rId44"/>
    </p:embeddedFont>
    <p:embeddedFont>
      <p:font typeface="DM Sans Bold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22" autoAdjust="0"/>
  </p:normalViewPr>
  <p:slideViewPr>
    <p:cSldViewPr>
      <p:cViewPr varScale="1">
        <p:scale>
          <a:sx n="52" d="100"/>
          <a:sy n="52" d="100"/>
        </p:scale>
        <p:origin x="31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4002-6329-E320-9C75-2219FB25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994780-B5CC-CEF0-3CC4-86CEF08A00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C895-A131-0781-E02F-8A19F831F3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3432C6-40B6-8024-5F8D-DFE97D7F1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A7C4107-5888-6196-684F-35F54965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19992-889E-53DA-3CAD-221D5793AA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3DE47-D092-FC19-5F5A-A782C8FB2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37594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3327E-7966-7E10-6DC7-D0978AF2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817C34-488D-B964-96BD-D9002FF76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8ABCF-1D75-81AC-F0C0-2CBDA958307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33E017-ADE9-7E30-908F-9ADB7255B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E1A53A-DF9F-4BCB-D187-9AC75D37F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6BB76-C710-CA3A-5592-F33C4E10AA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56DF3-EA75-9F51-A299-7D630D889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782512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97533-4EB6-531F-4FE0-85F1EA8F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267503-8755-3576-0F0A-9AFF886853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37BF0-F875-AD16-0B10-77CE013CAC9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B30A93-4C4C-3881-7634-AE388894D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3886127-75C5-568D-9A6C-8DB03D886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73895-61E3-5050-6C7B-8E11B9567D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AE338-09BE-7DB7-2F06-A77F12580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43351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4E93-BB3A-8FD8-F6B3-407BAF434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6BB903-7EF4-702D-4CC4-8093B23C61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AD52F-D6EF-0109-2392-88E7AB1A9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60614C8-6F33-5479-FF53-D16C86F2F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21551D4-FE84-0AB6-C498-1B981041C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2490-3487-E394-1391-E0273C0AEE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AAA5F-E9C0-BB5A-F405-AB99917BE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425333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0AE3-FDC6-48E9-9255-66FED443663B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442F-1F8D-4790-9090-86D31BDEEAE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4EA4-F31E-47D1-834E-55A64CD55E21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8F605-5044-4B8C-A96A-E4C0280F31D6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1901-1523-4E79-A467-0711404C12CE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3EEB-4DD7-42D2-BC5B-718211FA16E1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5F5-CE3C-4520-AB9E-B0E87DB0684B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4249400" y="190500"/>
            <a:ext cx="3124200" cy="990600"/>
          </a:xfrm>
        </p:spPr>
        <p:txBody>
          <a:bodyPr/>
          <a:lstStyle>
            <a:lvl1pPr>
              <a:defRPr sz="5400">
                <a:solidFill>
                  <a:srgbClr val="800000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sz="54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9263-F1CF-47C6-979A-9CDBFE893499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492E-7CAD-413A-A2B2-EB13BBDCB142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67B-7DF8-4AB1-B537-DA92F5BB4913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CBBAB-A195-4271-AA63-3118C641CC53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D363-6B20-FED7-8270-401398BC4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D0C31-5D2D-86C8-DC94-3699081B2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8F82-6292-7082-2637-0A964C50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C40C-7CA2-4C62-BDF4-BFEB18A37D3F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8C67-6CF2-B406-BCB3-A10D2836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54F4E-44EB-D272-4433-3DEEDBA7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7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D678-828D-495E-F9F5-48DB27C5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2214-9CDF-185A-5894-56B86DCE8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D9BF-B3CB-9875-1F2C-C0BF80C9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3507-5F6D-4EC2-9B35-BF69DF787D6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66C9-FE9D-5C39-2B03-BA7D40A2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0535B-7D95-0B6A-1144-5E9AA5DA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1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795B-ED3A-484C-210A-20683759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DE913-7C35-E2C9-E078-95EC0A0C5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F828-C918-27B2-0438-0699000D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1216C-6DAA-4173-9CA3-7BA28B1E57DE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30-18BC-429A-3D7C-38B3852D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0123B-EED5-D328-81A4-C6C0B5EF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79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4EB7-BBF0-58F8-2B45-28B65425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0B96D-820B-8FA6-553B-C751D91D9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3E4B4-249E-B5BC-6FE3-3ADCBFC51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CA8C4-FEA2-BC36-75E2-935E61299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4FE0-8611-4CFE-B5D7-3975C8467B53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A4779-01C2-05E2-17E7-CE7AB6A9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C7206-2E96-8957-AEFD-3F1DCF6B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34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2A8D-6500-0D70-D20A-BAFC8FC3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7B788-A28D-FF44-4941-E972F4E9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022EB-3BAB-512A-94FA-62A885A56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33524-5CBF-7F63-D65D-6BBB90166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ED677-96C0-DA7F-6590-7A3C14AFE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C1092-6102-C98D-08B7-050881D7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81C8-DE7E-4930-AC25-44A28FF146C7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C463A-4943-8203-8C16-D23F1D9B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800A3-43D9-9E02-18E7-12257AA2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86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85B8-FE5C-09A9-779C-359DEF58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AFE2E-4869-F5E2-C090-83CA38DC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FD86-7EA0-4A48-83CC-E426E5F5EF8C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42CDD-D869-AD83-0147-B8B3584A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DC6F3-5847-1D0D-8D8B-128996A6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42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F487A-7F84-C98A-8713-FF396721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7043-2C7B-4893-86E5-38DE5413E36F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06D6D-B759-DA10-2CA9-5558FE71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83BF9-4DFB-67F1-864F-09FAC292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59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CD1B-73DF-E2BE-47CC-E4A1953C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E9BF-3DE6-9E80-26D6-9D73C3295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7CFF7-4343-AD38-6E39-782B4BFF9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474A2-F43F-56F5-D56C-CA2AD81F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C8DA-1531-4004-B8CD-5CF8E1572529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265B3-2C1A-D8B7-F5CD-AA2077CC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6E5ED-C1FE-D49A-BC95-2B53969A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91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4F67-9A41-A5B9-BDD6-13DE9E7B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11F63-77DC-2D72-7D5E-B166AA5E2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024B8-1A06-5AF6-3881-4C7E67DBB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49554-6077-07FF-BF06-F10FCBC2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EF8C3-381C-4B86-8A3C-29498A608553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FC745-53DE-44D8-1781-F8CC7B03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F8DF-9754-F3B1-9BEE-ED742F61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94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15C2-B804-2C92-14EB-5E10F494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DEDD0-E681-9A98-4FBE-616D5B452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3A817-236E-B252-62EE-A9F01E9B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8E993-BE08-4D91-8090-0943C227D72A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5F27E-41C3-84C0-B67A-E8A15A42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68F19-375B-4CDE-E367-11E6CF16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88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4454B-90B5-50B5-2113-08DA0710B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8DF06-C945-CB1C-39FA-DBA73362A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1504E-8FC6-F458-00A7-B6E310A7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D4A2-2315-459A-B93D-C6D9D54A63D5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DFE04-950C-8871-507D-EEA840A0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1F1D-B154-6C52-804C-231DA564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9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F862F-FDDC-42B3-8203-218EDE9946B4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944C7-4DB5-1F58-7F7F-5FD2133E2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4E592-2CE0-5B95-C311-81043D405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3D4E0-4A1E-7B91-A413-0DBAF2D6E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4EDCA-8DD9-4F3D-BD1F-92007432BC74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0B90C-5708-A44D-5D48-BE86E58F8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F0DC7-E154-270D-86D9-785C39F83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78D6F-6B76-4667-8B05-873375A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6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6.svg"/><Relationship Id="rId4" Type="http://schemas.openxmlformats.org/officeDocument/2006/relationships/image" Target="../media/image7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svg"/><Relationship Id="rId5" Type="http://schemas.openxmlformats.org/officeDocument/2006/relationships/image" Target="../media/image81.svg"/><Relationship Id="rId4" Type="http://schemas.openxmlformats.org/officeDocument/2006/relationships/image" Target="../media/image8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75" y="3039858"/>
            <a:ext cx="18348550" cy="10271450"/>
          </a:xfrm>
          <a:custGeom>
            <a:avLst/>
            <a:gdLst/>
            <a:ahLst/>
            <a:cxnLst/>
            <a:rect l="l" t="t" r="r" b="b"/>
            <a:pathLst>
              <a:path w="18348550" h="10271450">
                <a:moveTo>
                  <a:pt x="0" y="0"/>
                </a:moveTo>
                <a:lnTo>
                  <a:pt x="18348550" y="0"/>
                </a:lnTo>
                <a:lnTo>
                  <a:pt x="18348550" y="10271450"/>
                </a:lnTo>
                <a:lnTo>
                  <a:pt x="0" y="10271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5300636" y="5143500"/>
            <a:ext cx="4322247" cy="5281743"/>
          </a:xfrm>
          <a:custGeom>
            <a:avLst/>
            <a:gdLst/>
            <a:ahLst/>
            <a:cxnLst/>
            <a:rect l="l" t="t" r="r" b="b"/>
            <a:pathLst>
              <a:path w="4322247" h="5281743">
                <a:moveTo>
                  <a:pt x="0" y="0"/>
                </a:moveTo>
                <a:lnTo>
                  <a:pt x="4322247" y="0"/>
                </a:lnTo>
                <a:lnTo>
                  <a:pt x="4322247" y="5281743"/>
                </a:lnTo>
                <a:lnTo>
                  <a:pt x="0" y="5281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575957" y="5154857"/>
            <a:ext cx="10655550" cy="9420250"/>
          </a:xfrm>
          <a:custGeom>
            <a:avLst/>
            <a:gdLst/>
            <a:ahLst/>
            <a:cxnLst/>
            <a:rect l="l" t="t" r="r" b="b"/>
            <a:pathLst>
              <a:path w="10655550" h="9420250">
                <a:moveTo>
                  <a:pt x="0" y="0"/>
                </a:moveTo>
                <a:lnTo>
                  <a:pt x="10655550" y="0"/>
                </a:lnTo>
                <a:lnTo>
                  <a:pt x="10655550" y="9420250"/>
                </a:lnTo>
                <a:lnTo>
                  <a:pt x="0" y="9420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0000" y="-394450"/>
            <a:ext cx="2136500" cy="9557500"/>
          </a:xfrm>
          <a:custGeom>
            <a:avLst/>
            <a:gdLst/>
            <a:ahLst/>
            <a:cxnLst/>
            <a:rect l="l" t="t" r="r" b="b"/>
            <a:pathLst>
              <a:path w="2136500" h="9557500">
                <a:moveTo>
                  <a:pt x="0" y="0"/>
                </a:moveTo>
                <a:lnTo>
                  <a:pt x="2136500" y="0"/>
                </a:lnTo>
                <a:lnTo>
                  <a:pt x="2136500" y="9557500"/>
                </a:lnTo>
                <a:lnTo>
                  <a:pt x="0" y="9557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561819" y="-169892"/>
            <a:ext cx="2299650" cy="8913000"/>
          </a:xfrm>
          <a:custGeom>
            <a:avLst/>
            <a:gdLst/>
            <a:ahLst/>
            <a:cxnLst/>
            <a:rect l="l" t="t" r="r" b="b"/>
            <a:pathLst>
              <a:path w="2299650" h="8913000">
                <a:moveTo>
                  <a:pt x="0" y="0"/>
                </a:moveTo>
                <a:lnTo>
                  <a:pt x="2299650" y="0"/>
                </a:lnTo>
                <a:lnTo>
                  <a:pt x="2299650" y="8913000"/>
                </a:lnTo>
                <a:lnTo>
                  <a:pt x="0" y="8913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28070" y="6801853"/>
            <a:ext cx="18289830" cy="4722394"/>
          </a:xfrm>
          <a:custGeom>
            <a:avLst/>
            <a:gdLst/>
            <a:ahLst/>
            <a:cxnLst/>
            <a:rect l="l" t="t" r="r" b="b"/>
            <a:pathLst>
              <a:path w="18289830" h="4722394">
                <a:moveTo>
                  <a:pt x="0" y="0"/>
                </a:moveTo>
                <a:lnTo>
                  <a:pt x="18289830" y="0"/>
                </a:lnTo>
                <a:lnTo>
                  <a:pt x="18289830" y="4722394"/>
                </a:lnTo>
                <a:lnTo>
                  <a:pt x="0" y="4722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68327" y="5639505"/>
            <a:ext cx="6734339" cy="3493466"/>
            <a:chOff x="0" y="0"/>
            <a:chExt cx="167501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5011" cy="812800"/>
            </a:xfrm>
            <a:custGeom>
              <a:avLst/>
              <a:gdLst/>
              <a:ahLst/>
              <a:cxnLst/>
              <a:rect l="l" t="t" r="r" b="b"/>
              <a:pathLst>
                <a:path w="1675011" h="812800">
                  <a:moveTo>
                    <a:pt x="62083" y="0"/>
                  </a:moveTo>
                  <a:lnTo>
                    <a:pt x="1612928" y="0"/>
                  </a:lnTo>
                  <a:cubicBezTo>
                    <a:pt x="1647216" y="0"/>
                    <a:pt x="1675011" y="27796"/>
                    <a:pt x="1675011" y="62083"/>
                  </a:cubicBezTo>
                  <a:lnTo>
                    <a:pt x="1675011" y="750717"/>
                  </a:lnTo>
                  <a:cubicBezTo>
                    <a:pt x="1675011" y="785004"/>
                    <a:pt x="1647216" y="812800"/>
                    <a:pt x="1612928" y="812800"/>
                  </a:cubicBezTo>
                  <a:lnTo>
                    <a:pt x="62083" y="812800"/>
                  </a:lnTo>
                  <a:cubicBezTo>
                    <a:pt x="27796" y="812800"/>
                    <a:pt x="0" y="785004"/>
                    <a:pt x="0" y="750717"/>
                  </a:cubicBezTo>
                  <a:lnTo>
                    <a:pt x="0" y="62083"/>
                  </a:lnTo>
                  <a:cubicBezTo>
                    <a:pt x="0" y="27796"/>
                    <a:pt x="27796" y="0"/>
                    <a:pt x="62083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5011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79858" y="3313858"/>
            <a:ext cx="6334607" cy="3086100"/>
            <a:chOff x="0" y="0"/>
            <a:chExt cx="1668374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68374" cy="812800"/>
            </a:xfrm>
            <a:custGeom>
              <a:avLst/>
              <a:gdLst/>
              <a:ahLst/>
              <a:cxnLst/>
              <a:rect l="l" t="t" r="r" b="b"/>
              <a:pathLst>
                <a:path w="1668374" h="812800">
                  <a:moveTo>
                    <a:pt x="62330" y="0"/>
                  </a:moveTo>
                  <a:lnTo>
                    <a:pt x="1606043" y="0"/>
                  </a:lnTo>
                  <a:cubicBezTo>
                    <a:pt x="1640468" y="0"/>
                    <a:pt x="1668374" y="27906"/>
                    <a:pt x="1668374" y="62330"/>
                  </a:cubicBezTo>
                  <a:lnTo>
                    <a:pt x="1668374" y="750470"/>
                  </a:lnTo>
                  <a:cubicBezTo>
                    <a:pt x="1668374" y="767001"/>
                    <a:pt x="1661807" y="782855"/>
                    <a:pt x="1650118" y="794544"/>
                  </a:cubicBezTo>
                  <a:cubicBezTo>
                    <a:pt x="1638428" y="806233"/>
                    <a:pt x="1622575" y="812800"/>
                    <a:pt x="1606043" y="812800"/>
                  </a:cubicBezTo>
                  <a:lnTo>
                    <a:pt x="62330" y="812800"/>
                  </a:lnTo>
                  <a:cubicBezTo>
                    <a:pt x="45799" y="812800"/>
                    <a:pt x="29945" y="806233"/>
                    <a:pt x="18256" y="794544"/>
                  </a:cubicBezTo>
                  <a:cubicBezTo>
                    <a:pt x="6567" y="782855"/>
                    <a:pt x="0" y="767001"/>
                    <a:pt x="0" y="750470"/>
                  </a:cubicBezTo>
                  <a:lnTo>
                    <a:pt x="0" y="62330"/>
                  </a:lnTo>
                  <a:cubicBezTo>
                    <a:pt x="0" y="45799"/>
                    <a:pt x="6567" y="29945"/>
                    <a:pt x="18256" y="18256"/>
                  </a:cubicBezTo>
                  <a:cubicBezTo>
                    <a:pt x="29945" y="6567"/>
                    <a:pt x="45799" y="0"/>
                    <a:pt x="6233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68374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313917" y="1064958"/>
            <a:ext cx="1470023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Forest Fires Severity Classification using Machine Learning</a:t>
            </a:r>
            <a:r>
              <a:rPr lang="en-US" sz="6400" b="1" dirty="0">
                <a:solidFill>
                  <a:schemeClr val="bg2">
                    <a:lumMod val="10000"/>
                  </a:schemeClr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mo Bold"/>
              </a:rPr>
              <a:t> 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87683" y="4092324"/>
            <a:ext cx="5759289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 dirty="0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By:</a:t>
            </a:r>
          </a:p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Samia Maliha -2254901043   Ishrat Jahan Binti -2254901071</a:t>
            </a:r>
          </a:p>
          <a:p>
            <a:pPr algn="ctr">
              <a:lnSpc>
                <a:spcPts val="3959"/>
              </a:lnSpc>
            </a:pPr>
            <a:endParaRPr lang="en-US" sz="3000" dirty="0">
              <a:solidFill>
                <a:srgbClr val="27211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433096" y="5910771"/>
            <a:ext cx="5861230" cy="2832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To: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 dirty="0" err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Sarnali</a:t>
            </a:r>
            <a:r>
              <a:rPr lang="en-US" sz="3199" b="1" dirty="0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 Basak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Associate Professor, CSE, JU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27211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Jasiya Fairiz Raisa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Lecturer, ICT, BUP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8D5A193-7F0D-0E3D-55CC-AEBFEF1B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38805" y="374155"/>
            <a:ext cx="3124200" cy="990600"/>
          </a:xfrm>
        </p:spPr>
        <p:txBody>
          <a:bodyPr/>
          <a:lstStyle/>
          <a:p>
            <a:fld id="{B6F15528-21DE-4FAA-801E-634DDDAF4B2B}" type="slidenum">
              <a:rPr lang="en-US" b="1" smtClean="0"/>
              <a:pPr/>
              <a:t>1</a:t>
            </a:fld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02" y="6783589"/>
            <a:ext cx="20263202" cy="4593594"/>
          </a:xfrm>
          <a:custGeom>
            <a:avLst/>
            <a:gdLst/>
            <a:ahLst/>
            <a:cxnLst/>
            <a:rect l="l" t="t" r="r" b="b"/>
            <a:pathLst>
              <a:path w="20263202" h="4593594">
                <a:moveTo>
                  <a:pt x="0" y="0"/>
                </a:moveTo>
                <a:lnTo>
                  <a:pt x="20263202" y="0"/>
                </a:lnTo>
                <a:lnTo>
                  <a:pt x="20263202" y="4593594"/>
                </a:lnTo>
                <a:lnTo>
                  <a:pt x="0" y="4593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82512" y="626214"/>
            <a:ext cx="1522515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5500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Dataset Information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8649" y="6774064"/>
            <a:ext cx="4428150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Target Column 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area → burned area of forest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27211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571600" y="9340710"/>
            <a:ext cx="6353750" cy="335250"/>
            <a:chOff x="0" y="0"/>
            <a:chExt cx="8471667" cy="44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71662" cy="446913"/>
            </a:xfrm>
            <a:custGeom>
              <a:avLst/>
              <a:gdLst/>
              <a:ahLst/>
              <a:cxnLst/>
              <a:rect l="l" t="t" r="r" b="b"/>
              <a:pathLst>
                <a:path w="8471662" h="446913">
                  <a:moveTo>
                    <a:pt x="8471662" y="0"/>
                  </a:moveTo>
                  <a:lnTo>
                    <a:pt x="4205351" y="175006"/>
                  </a:lnTo>
                  <a:lnTo>
                    <a:pt x="5735701" y="446913"/>
                  </a:lnTo>
                  <a:lnTo>
                    <a:pt x="0" y="8001"/>
                  </a:lnTo>
                  <a:lnTo>
                    <a:pt x="8471662" y="0"/>
                  </a:lnTo>
                  <a:close/>
                </a:path>
              </a:pathLst>
            </a:custGeom>
            <a:solidFill>
              <a:srgbClr val="F5B07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2300" y="8095473"/>
            <a:ext cx="2440424" cy="3160974"/>
          </a:xfrm>
          <a:custGeom>
            <a:avLst/>
            <a:gdLst/>
            <a:ahLst/>
            <a:cxnLst/>
            <a:rect l="l" t="t" r="r" b="b"/>
            <a:pathLst>
              <a:path w="2440424" h="3160974">
                <a:moveTo>
                  <a:pt x="0" y="0"/>
                </a:moveTo>
                <a:lnTo>
                  <a:pt x="2440424" y="0"/>
                </a:lnTo>
                <a:lnTo>
                  <a:pt x="2440424" y="3160974"/>
                </a:lnTo>
                <a:lnTo>
                  <a:pt x="0" y="31609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45350" y="9080386"/>
            <a:ext cx="1674324" cy="2168680"/>
          </a:xfrm>
          <a:custGeom>
            <a:avLst/>
            <a:gdLst/>
            <a:ahLst/>
            <a:cxnLst/>
            <a:rect l="l" t="t" r="r" b="b"/>
            <a:pathLst>
              <a:path w="1674324" h="2168680">
                <a:moveTo>
                  <a:pt x="0" y="0"/>
                </a:moveTo>
                <a:lnTo>
                  <a:pt x="1674324" y="0"/>
                </a:lnTo>
                <a:lnTo>
                  <a:pt x="1674324" y="2168680"/>
                </a:lnTo>
                <a:lnTo>
                  <a:pt x="0" y="21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198277" y="5900610"/>
            <a:ext cx="12727073" cy="2791811"/>
          </a:xfrm>
          <a:custGeom>
            <a:avLst/>
            <a:gdLst/>
            <a:ahLst/>
            <a:cxnLst/>
            <a:rect l="l" t="t" r="r" b="b"/>
            <a:pathLst>
              <a:path w="12727073" h="2791811">
                <a:moveTo>
                  <a:pt x="0" y="0"/>
                </a:moveTo>
                <a:lnTo>
                  <a:pt x="12727073" y="0"/>
                </a:lnTo>
                <a:lnTo>
                  <a:pt x="12727073" y="2791812"/>
                </a:lnTo>
                <a:lnTo>
                  <a:pt x="0" y="2791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32" b="-26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284993" y="2138039"/>
            <a:ext cx="9640357" cy="2554958"/>
          </a:xfrm>
          <a:custGeom>
            <a:avLst/>
            <a:gdLst/>
            <a:ahLst/>
            <a:cxnLst/>
            <a:rect l="l" t="t" r="r" b="b"/>
            <a:pathLst>
              <a:path w="9640357" h="2554958">
                <a:moveTo>
                  <a:pt x="0" y="0"/>
                </a:moveTo>
                <a:lnTo>
                  <a:pt x="9640357" y="0"/>
                </a:lnTo>
                <a:lnTo>
                  <a:pt x="9640357" y="2554958"/>
                </a:lnTo>
                <a:lnTo>
                  <a:pt x="0" y="2554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88649" y="3573664"/>
            <a:ext cx="5334928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Includes: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Weather data → temperature, RH , wind, rain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Fire indices → FFMC, DMC, DC, ISI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Location → X, Y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Time → month, day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8649" y="1899914"/>
            <a:ext cx="44281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Total Records: 517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8649" y="2687839"/>
            <a:ext cx="44281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Total Features: 13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1BAEBAA-9D4E-64D1-CA48-827E869A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598" y="1623922"/>
            <a:ext cx="18353598" cy="9161846"/>
          </a:xfrm>
          <a:custGeom>
            <a:avLst/>
            <a:gdLst/>
            <a:ahLst/>
            <a:cxnLst/>
            <a:rect l="l" t="t" r="r" b="b"/>
            <a:pathLst>
              <a:path w="18353598" h="9161846">
                <a:moveTo>
                  <a:pt x="0" y="0"/>
                </a:moveTo>
                <a:lnTo>
                  <a:pt x="18353598" y="0"/>
                </a:lnTo>
                <a:lnTo>
                  <a:pt x="18353598" y="9161846"/>
                </a:lnTo>
                <a:lnTo>
                  <a:pt x="0" y="9161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130214" y="5143500"/>
            <a:ext cx="9390400" cy="8673300"/>
          </a:xfrm>
          <a:custGeom>
            <a:avLst/>
            <a:gdLst/>
            <a:ahLst/>
            <a:cxnLst/>
            <a:rect l="l" t="t" r="r" b="b"/>
            <a:pathLst>
              <a:path w="9390400" h="8673300">
                <a:moveTo>
                  <a:pt x="0" y="0"/>
                </a:moveTo>
                <a:lnTo>
                  <a:pt x="9390400" y="0"/>
                </a:lnTo>
                <a:lnTo>
                  <a:pt x="9390400" y="8673300"/>
                </a:lnTo>
                <a:lnTo>
                  <a:pt x="0" y="8673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541373" y="1623922"/>
            <a:ext cx="9205252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2"/>
              </a:lnSpc>
            </a:pPr>
            <a:r>
              <a:rPr lang="en-US" sz="5502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Why "Area" is the Target?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88574" y="3407854"/>
            <a:ext cx="11710851" cy="403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Area represents the burned forest area (fire damage).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Our goal is to predict how severe a fire is.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Therefore area is used as the target variable .</a:t>
            </a:r>
          </a:p>
          <a:p>
            <a:pPr algn="l">
              <a:lnSpc>
                <a:spcPts val="3600"/>
              </a:lnSpc>
            </a:pPr>
            <a:endParaRPr lang="en-US" sz="3000" dirty="0">
              <a:solidFill>
                <a:srgbClr val="27211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6599"/>
              </a:lnSpc>
            </a:pPr>
            <a:r>
              <a:rPr lang="en-US" sz="5499" dirty="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499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Why we convert it to classification</a:t>
            </a:r>
          </a:p>
          <a:p>
            <a:pPr algn="l">
              <a:lnSpc>
                <a:spcPts val="3600"/>
              </a:lnSpc>
            </a:pPr>
            <a:endParaRPr lang="en-US" sz="5499" b="1" dirty="0">
              <a:solidFill>
                <a:srgbClr val="27211E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Area is continuous numeric data.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Converting it into severity levels</a:t>
            </a:r>
          </a:p>
        </p:txBody>
      </p:sp>
      <p:sp>
        <p:nvSpPr>
          <p:cNvPr id="6" name="Freeform 6"/>
          <p:cNvSpPr/>
          <p:nvPr/>
        </p:nvSpPr>
        <p:spPr>
          <a:xfrm>
            <a:off x="15693186" y="1443274"/>
            <a:ext cx="3132228" cy="8596634"/>
          </a:xfrm>
          <a:custGeom>
            <a:avLst/>
            <a:gdLst/>
            <a:ahLst/>
            <a:cxnLst/>
            <a:rect l="l" t="t" r="r" b="b"/>
            <a:pathLst>
              <a:path w="3132228" h="8596634">
                <a:moveTo>
                  <a:pt x="0" y="0"/>
                </a:moveTo>
                <a:lnTo>
                  <a:pt x="3132228" y="0"/>
                </a:lnTo>
                <a:lnTo>
                  <a:pt x="3132228" y="8596634"/>
                </a:lnTo>
                <a:lnTo>
                  <a:pt x="0" y="8596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136850" y="8094800"/>
            <a:ext cx="9197738" cy="2366400"/>
          </a:xfrm>
          <a:custGeom>
            <a:avLst/>
            <a:gdLst/>
            <a:ahLst/>
            <a:cxnLst/>
            <a:rect l="l" t="t" r="r" b="b"/>
            <a:pathLst>
              <a:path w="9197738" h="2366400">
                <a:moveTo>
                  <a:pt x="0" y="0"/>
                </a:moveTo>
                <a:lnTo>
                  <a:pt x="9197738" y="0"/>
                </a:lnTo>
                <a:lnTo>
                  <a:pt x="9197738" y="2366400"/>
                </a:lnTo>
                <a:lnTo>
                  <a:pt x="0" y="2366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D51C0-E875-E182-7953-993C76BC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3546" y="1425284"/>
            <a:ext cx="19710134" cy="9742040"/>
          </a:xfrm>
          <a:custGeom>
            <a:avLst/>
            <a:gdLst/>
            <a:ahLst/>
            <a:cxnLst/>
            <a:rect l="l" t="t" r="r" b="b"/>
            <a:pathLst>
              <a:path w="19710134" h="9742040">
                <a:moveTo>
                  <a:pt x="0" y="0"/>
                </a:moveTo>
                <a:lnTo>
                  <a:pt x="19710134" y="0"/>
                </a:lnTo>
                <a:lnTo>
                  <a:pt x="19710134" y="9742040"/>
                </a:lnTo>
                <a:lnTo>
                  <a:pt x="0" y="9742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612940" y="8047093"/>
            <a:ext cx="6193648" cy="3765450"/>
          </a:xfrm>
          <a:custGeom>
            <a:avLst/>
            <a:gdLst/>
            <a:ahLst/>
            <a:cxnLst/>
            <a:rect l="l" t="t" r="r" b="b"/>
            <a:pathLst>
              <a:path w="6193648" h="3765450">
                <a:moveTo>
                  <a:pt x="0" y="0"/>
                </a:moveTo>
                <a:lnTo>
                  <a:pt x="6193648" y="0"/>
                </a:lnTo>
                <a:lnTo>
                  <a:pt x="6193648" y="3765450"/>
                </a:lnTo>
                <a:lnTo>
                  <a:pt x="0" y="3765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298313" y="3669404"/>
            <a:ext cx="7797960" cy="1338861"/>
          </a:xfrm>
          <a:custGeom>
            <a:avLst/>
            <a:gdLst/>
            <a:ahLst/>
            <a:cxnLst/>
            <a:rect l="l" t="t" r="r" b="b"/>
            <a:pathLst>
              <a:path w="7797960" h="1338861">
                <a:moveTo>
                  <a:pt x="0" y="0"/>
                </a:moveTo>
                <a:lnTo>
                  <a:pt x="7797960" y="0"/>
                </a:lnTo>
                <a:lnTo>
                  <a:pt x="7797960" y="1338861"/>
                </a:lnTo>
                <a:lnTo>
                  <a:pt x="0" y="1338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13" r="-346" b="-148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331666" y="6777016"/>
            <a:ext cx="9021494" cy="1105484"/>
          </a:xfrm>
          <a:custGeom>
            <a:avLst/>
            <a:gdLst/>
            <a:ahLst/>
            <a:cxnLst/>
            <a:rect l="l" t="t" r="r" b="b"/>
            <a:pathLst>
              <a:path w="9021494" h="1105484">
                <a:moveTo>
                  <a:pt x="0" y="0"/>
                </a:moveTo>
                <a:lnTo>
                  <a:pt x="9021494" y="0"/>
                </a:lnTo>
                <a:lnTo>
                  <a:pt x="9021494" y="1105484"/>
                </a:lnTo>
                <a:lnTo>
                  <a:pt x="0" y="1105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99" r="-20030" b="-108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133473" y="2025906"/>
            <a:ext cx="3173441" cy="6976902"/>
          </a:xfrm>
          <a:custGeom>
            <a:avLst/>
            <a:gdLst/>
            <a:ahLst/>
            <a:cxnLst/>
            <a:rect l="l" t="t" r="r" b="b"/>
            <a:pathLst>
              <a:path w="3173441" h="6976902">
                <a:moveTo>
                  <a:pt x="0" y="0"/>
                </a:moveTo>
                <a:lnTo>
                  <a:pt x="3173441" y="0"/>
                </a:lnTo>
                <a:lnTo>
                  <a:pt x="3173441" y="6976902"/>
                </a:lnTo>
                <a:lnTo>
                  <a:pt x="0" y="6976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659636" y="952900"/>
            <a:ext cx="826269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Data Preprocessing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31666" y="2307329"/>
            <a:ext cx="68605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Missing Values: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No missing values found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31666" y="5425916"/>
            <a:ext cx="465593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Duplicate Values:</a:t>
            </a:r>
          </a:p>
          <a:p>
            <a:pPr marL="604536" lvl="1" indent="-302268" algn="ctr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4 duplicate rows removed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2E86C9-B0ED-7AAE-9D5D-1B4AC447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78043" y="2345976"/>
            <a:ext cx="9200263" cy="4382671"/>
          </a:xfrm>
          <a:custGeom>
            <a:avLst/>
            <a:gdLst/>
            <a:ahLst/>
            <a:cxnLst/>
            <a:rect l="l" t="t" r="r" b="b"/>
            <a:pathLst>
              <a:path w="9200263" h="4382671">
                <a:moveTo>
                  <a:pt x="0" y="0"/>
                </a:moveTo>
                <a:lnTo>
                  <a:pt x="9200262" y="0"/>
                </a:lnTo>
                <a:lnTo>
                  <a:pt x="9200262" y="4382671"/>
                </a:lnTo>
                <a:lnTo>
                  <a:pt x="0" y="4382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30704" y="2345976"/>
            <a:ext cx="6414574" cy="627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Creates a new column called area_log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Applies log transformation to the area column</a:t>
            </a:r>
          </a:p>
          <a:p>
            <a:pPr algn="l">
              <a:lnSpc>
                <a:spcPts val="3839"/>
              </a:lnSpc>
            </a:pPr>
            <a:endParaRPr lang="en-US" sz="2999">
              <a:solidFill>
                <a:srgbClr val="27211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839"/>
              </a:lnSpc>
            </a:pPr>
            <a:endParaRPr lang="en-US" sz="2999">
              <a:solidFill>
                <a:srgbClr val="27211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           </a:t>
            </a:r>
            <a:r>
              <a:rPr lang="en-US" sz="5499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Why?</a:t>
            </a:r>
          </a:p>
          <a:p>
            <a:pPr algn="l">
              <a:lnSpc>
                <a:spcPts val="3599"/>
              </a:lnSpc>
            </a:pPr>
            <a:endParaRPr lang="en-US" sz="5499" b="1">
              <a:solidFill>
                <a:srgbClr val="27211E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Area is highly skewed (many 0s, few large values)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Log transformation reduces skewness and makes data more balanced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5892" y="1000125"/>
            <a:ext cx="690738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Log Transformation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15564" y="7206187"/>
            <a:ext cx="692521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6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bins=50 → divides data into 50 parts</a:t>
            </a:r>
          </a:p>
          <a:p>
            <a:pPr marL="457200" indent="-457200" algn="l">
              <a:lnSpc>
                <a:spcPts val="36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kde</a:t>
            </a:r>
            <a:r>
              <a:rPr lang="en-US" sz="3000" dirty="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=True → adds smooth curve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12EB-E7EC-3170-E4B1-B10B1A4A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974" y="-389436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801211" y="2178246"/>
            <a:ext cx="12685579" cy="5930508"/>
          </a:xfrm>
          <a:custGeom>
            <a:avLst/>
            <a:gdLst/>
            <a:ahLst/>
            <a:cxnLst/>
            <a:rect l="l" t="t" r="r" b="b"/>
            <a:pathLst>
              <a:path w="12685579" h="5930508">
                <a:moveTo>
                  <a:pt x="0" y="0"/>
                </a:moveTo>
                <a:lnTo>
                  <a:pt x="12685578" y="0"/>
                </a:lnTo>
                <a:lnTo>
                  <a:pt x="12685578" y="5930508"/>
                </a:lnTo>
                <a:lnTo>
                  <a:pt x="0" y="5930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724400" y="833287"/>
            <a:ext cx="9907042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Log Transformation Cont.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6C84A-5860-6CEC-F04A-ACC346E2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4791" y="2015442"/>
            <a:ext cx="8059763" cy="4987126"/>
          </a:xfrm>
          <a:custGeom>
            <a:avLst/>
            <a:gdLst/>
            <a:ahLst/>
            <a:cxnLst/>
            <a:rect l="l" t="t" r="r" b="b"/>
            <a:pathLst>
              <a:path w="8059763" h="4987126">
                <a:moveTo>
                  <a:pt x="0" y="0"/>
                </a:moveTo>
                <a:lnTo>
                  <a:pt x="8059763" y="0"/>
                </a:lnTo>
                <a:lnTo>
                  <a:pt x="8059763" y="4987126"/>
                </a:lnTo>
                <a:lnTo>
                  <a:pt x="0" y="4987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57241" y="7700337"/>
            <a:ext cx="15702059" cy="1557963"/>
            <a:chOff x="0" y="0"/>
            <a:chExt cx="3230876" cy="3205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30876" cy="320568"/>
            </a:xfrm>
            <a:custGeom>
              <a:avLst/>
              <a:gdLst/>
              <a:ahLst/>
              <a:cxnLst/>
              <a:rect l="l" t="t" r="r" b="b"/>
              <a:pathLst>
                <a:path w="3230876" h="320568">
                  <a:moveTo>
                    <a:pt x="9630" y="0"/>
                  </a:moveTo>
                  <a:lnTo>
                    <a:pt x="3221246" y="0"/>
                  </a:lnTo>
                  <a:cubicBezTo>
                    <a:pt x="3226565" y="0"/>
                    <a:pt x="3230876" y="4311"/>
                    <a:pt x="3230876" y="9630"/>
                  </a:cubicBezTo>
                  <a:lnTo>
                    <a:pt x="3230876" y="310939"/>
                  </a:lnTo>
                  <a:cubicBezTo>
                    <a:pt x="3230876" y="316257"/>
                    <a:pt x="3226565" y="320568"/>
                    <a:pt x="3221246" y="320568"/>
                  </a:cubicBezTo>
                  <a:lnTo>
                    <a:pt x="9630" y="320568"/>
                  </a:lnTo>
                  <a:cubicBezTo>
                    <a:pt x="7076" y="320568"/>
                    <a:pt x="4626" y="319554"/>
                    <a:pt x="2821" y="317748"/>
                  </a:cubicBezTo>
                  <a:cubicBezTo>
                    <a:pt x="1015" y="315942"/>
                    <a:pt x="0" y="313493"/>
                    <a:pt x="0" y="310939"/>
                  </a:cubicBezTo>
                  <a:lnTo>
                    <a:pt x="0" y="9630"/>
                  </a:lnTo>
                  <a:cubicBezTo>
                    <a:pt x="0" y="4311"/>
                    <a:pt x="4311" y="0"/>
                    <a:pt x="963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30876" cy="358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789840" y="2015873"/>
            <a:ext cx="6556973" cy="4986695"/>
          </a:xfrm>
          <a:custGeom>
            <a:avLst/>
            <a:gdLst/>
            <a:ahLst/>
            <a:cxnLst/>
            <a:rect l="l" t="t" r="r" b="b"/>
            <a:pathLst>
              <a:path w="6556973" h="4986695">
                <a:moveTo>
                  <a:pt x="0" y="0"/>
                </a:moveTo>
                <a:lnTo>
                  <a:pt x="6556972" y="0"/>
                </a:lnTo>
                <a:lnTo>
                  <a:pt x="6556972" y="4986695"/>
                </a:lnTo>
                <a:lnTo>
                  <a:pt x="0" y="4986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144673" y="596217"/>
            <a:ext cx="8609574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1"/>
              </a:lnSpc>
            </a:pPr>
            <a:r>
              <a:rPr lang="en-US" sz="5501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Severity Categorization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5186" y="7964969"/>
            <a:ext cx="1484616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We convert area_log into three classes (No Fire, Low Fire, High Fire) to represent fire severity. Final output: severity_encoded used as the model target variable.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37E46-929F-2DA3-6495-A4049328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200" y="211394"/>
            <a:ext cx="18799200" cy="10138498"/>
          </a:xfrm>
          <a:custGeom>
            <a:avLst/>
            <a:gdLst/>
            <a:ahLst/>
            <a:cxnLst/>
            <a:rect l="l" t="t" r="r" b="b"/>
            <a:pathLst>
              <a:path w="18799200" h="10138498">
                <a:moveTo>
                  <a:pt x="0" y="0"/>
                </a:moveTo>
                <a:lnTo>
                  <a:pt x="18799200" y="0"/>
                </a:lnTo>
                <a:lnTo>
                  <a:pt x="18799200" y="10138498"/>
                </a:lnTo>
                <a:lnTo>
                  <a:pt x="0" y="101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75750" y="6238534"/>
            <a:ext cx="3508150" cy="4171650"/>
          </a:xfrm>
          <a:custGeom>
            <a:avLst/>
            <a:gdLst/>
            <a:ahLst/>
            <a:cxnLst/>
            <a:rect l="l" t="t" r="r" b="b"/>
            <a:pathLst>
              <a:path w="3508150" h="4171650">
                <a:moveTo>
                  <a:pt x="0" y="0"/>
                </a:moveTo>
                <a:lnTo>
                  <a:pt x="3508150" y="0"/>
                </a:lnTo>
                <a:lnTo>
                  <a:pt x="3508150" y="4171650"/>
                </a:lnTo>
                <a:lnTo>
                  <a:pt x="0" y="4171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986876" y="3332994"/>
            <a:ext cx="6006362" cy="2696038"/>
          </a:xfrm>
          <a:custGeom>
            <a:avLst/>
            <a:gdLst/>
            <a:ahLst/>
            <a:cxnLst/>
            <a:rect l="l" t="t" r="r" b="b"/>
            <a:pathLst>
              <a:path w="6006362" h="2696038">
                <a:moveTo>
                  <a:pt x="0" y="0"/>
                </a:moveTo>
                <a:lnTo>
                  <a:pt x="6006362" y="0"/>
                </a:lnTo>
                <a:lnTo>
                  <a:pt x="6006362" y="2696037"/>
                </a:lnTo>
                <a:lnTo>
                  <a:pt x="0" y="2696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146439" y="1000125"/>
            <a:ext cx="7585847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One-Hot Encoding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3338" y="3152775"/>
            <a:ext cx="7910662" cy="430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8" lvl="1" indent="-323854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Month &amp; Day are categorical</a:t>
            </a:r>
          </a:p>
          <a:p>
            <a:pPr marL="647708" lvl="1" indent="-323854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 Applied One-Hot Encoding to convert into numeric value</a:t>
            </a:r>
          </a:p>
          <a:p>
            <a:pPr algn="just">
              <a:lnSpc>
                <a:spcPts val="4080"/>
              </a:lnSpc>
            </a:pPr>
            <a:endParaRPr lang="en-US" sz="3000">
              <a:solidFill>
                <a:srgbClr val="27211E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3840"/>
              </a:lnSpc>
            </a:pPr>
            <a:r>
              <a:rPr lang="en-US" sz="3200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 Example:</a:t>
            </a:r>
          </a:p>
          <a:p>
            <a:pPr algn="just">
              <a:lnSpc>
                <a:spcPts val="3840"/>
              </a:lnSpc>
            </a:pPr>
            <a:endParaRPr lang="en-US" sz="3200" b="1">
              <a:solidFill>
                <a:srgbClr val="27211E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7708" lvl="1" indent="-323854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month → month_jan, month_feb, …</a:t>
            </a:r>
          </a:p>
          <a:p>
            <a:pPr marL="647708" lvl="1" indent="-323854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day → day_mon, day_tue, …</a:t>
            </a:r>
          </a:p>
          <a:p>
            <a:pPr algn="just">
              <a:lnSpc>
                <a:spcPts val="4080"/>
              </a:lnSpc>
            </a:pPr>
            <a:endParaRPr lang="en-US" sz="3000">
              <a:solidFill>
                <a:srgbClr val="27211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9BE78-21DC-460D-7812-FEBED678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706600" y="286294"/>
            <a:ext cx="3124200" cy="990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974" y="-389436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40135" y="2135235"/>
            <a:ext cx="8644305" cy="6720947"/>
          </a:xfrm>
          <a:custGeom>
            <a:avLst/>
            <a:gdLst/>
            <a:ahLst/>
            <a:cxnLst/>
            <a:rect l="l" t="t" r="r" b="b"/>
            <a:pathLst>
              <a:path w="8644305" h="6720947">
                <a:moveTo>
                  <a:pt x="0" y="0"/>
                </a:moveTo>
                <a:lnTo>
                  <a:pt x="8644305" y="0"/>
                </a:lnTo>
                <a:lnTo>
                  <a:pt x="8644305" y="6720948"/>
                </a:lnTo>
                <a:lnTo>
                  <a:pt x="0" y="6720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31425" y="943375"/>
            <a:ext cx="1522515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Correlation Heatmap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99471-B8AF-ED7A-7059-9D260895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974" y="0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32135" y="2247740"/>
            <a:ext cx="6493133" cy="3277486"/>
          </a:xfrm>
          <a:custGeom>
            <a:avLst/>
            <a:gdLst/>
            <a:ahLst/>
            <a:cxnLst/>
            <a:rect l="l" t="t" r="r" b="b"/>
            <a:pathLst>
              <a:path w="6493133" h="3277486">
                <a:moveTo>
                  <a:pt x="0" y="0"/>
                </a:moveTo>
                <a:lnTo>
                  <a:pt x="6493134" y="0"/>
                </a:lnTo>
                <a:lnTo>
                  <a:pt x="6493134" y="3277487"/>
                </a:lnTo>
                <a:lnTo>
                  <a:pt x="0" y="3277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999061" y="3079327"/>
            <a:ext cx="9260239" cy="1614313"/>
          </a:xfrm>
          <a:custGeom>
            <a:avLst/>
            <a:gdLst/>
            <a:ahLst/>
            <a:cxnLst/>
            <a:rect l="l" t="t" r="r" b="b"/>
            <a:pathLst>
              <a:path w="9260239" h="1614313">
                <a:moveTo>
                  <a:pt x="0" y="0"/>
                </a:moveTo>
                <a:lnTo>
                  <a:pt x="9260239" y="0"/>
                </a:lnTo>
                <a:lnTo>
                  <a:pt x="9260239" y="1614313"/>
                </a:lnTo>
                <a:lnTo>
                  <a:pt x="0" y="1614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47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32135" y="7103647"/>
            <a:ext cx="8838362" cy="1683497"/>
          </a:xfrm>
          <a:custGeom>
            <a:avLst/>
            <a:gdLst/>
            <a:ahLst/>
            <a:cxnLst/>
            <a:rect l="l" t="t" r="r" b="b"/>
            <a:pathLst>
              <a:path w="8838362" h="1683497">
                <a:moveTo>
                  <a:pt x="0" y="0"/>
                </a:moveTo>
                <a:lnTo>
                  <a:pt x="8838362" y="0"/>
                </a:lnTo>
                <a:lnTo>
                  <a:pt x="8838362" y="1683497"/>
                </a:lnTo>
                <a:lnTo>
                  <a:pt x="0" y="1683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903813" y="7103647"/>
            <a:ext cx="4288745" cy="1861153"/>
          </a:xfrm>
          <a:custGeom>
            <a:avLst/>
            <a:gdLst/>
            <a:ahLst/>
            <a:cxnLst/>
            <a:rect l="l" t="t" r="r" b="b"/>
            <a:pathLst>
              <a:path w="4288745" h="1861153">
                <a:moveTo>
                  <a:pt x="0" y="0"/>
                </a:moveTo>
                <a:lnTo>
                  <a:pt x="4288745" y="0"/>
                </a:lnTo>
                <a:lnTo>
                  <a:pt x="4288745" y="1861153"/>
                </a:lnTo>
                <a:lnTo>
                  <a:pt x="0" y="18611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731871" y="866615"/>
            <a:ext cx="1082425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Feature &amp; Target Selection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01535" y="6023924"/>
            <a:ext cx="6286351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TRAIN TEST SPLIT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A51148-94D2-B0B2-B417-E3835856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390" y="-389436"/>
            <a:ext cx="20846783" cy="12701452"/>
          </a:xfrm>
          <a:custGeom>
            <a:avLst/>
            <a:gdLst/>
            <a:ahLst/>
            <a:cxnLst/>
            <a:rect l="l" t="t" r="r" b="b"/>
            <a:pathLst>
              <a:path w="20846783" h="12701452">
                <a:moveTo>
                  <a:pt x="0" y="0"/>
                </a:moveTo>
                <a:lnTo>
                  <a:pt x="20846783" y="0"/>
                </a:lnTo>
                <a:lnTo>
                  <a:pt x="20846783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50749" y="3345842"/>
            <a:ext cx="8786502" cy="1464417"/>
          </a:xfrm>
          <a:custGeom>
            <a:avLst/>
            <a:gdLst/>
            <a:ahLst/>
            <a:cxnLst/>
            <a:rect l="l" t="t" r="r" b="b"/>
            <a:pathLst>
              <a:path w="8786502" h="1464417">
                <a:moveTo>
                  <a:pt x="0" y="0"/>
                </a:moveTo>
                <a:lnTo>
                  <a:pt x="8786502" y="0"/>
                </a:lnTo>
                <a:lnTo>
                  <a:pt x="8786502" y="1464417"/>
                </a:lnTo>
                <a:lnTo>
                  <a:pt x="0" y="1464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373655" y="5380765"/>
            <a:ext cx="11081745" cy="3629272"/>
          </a:xfrm>
          <a:custGeom>
            <a:avLst/>
            <a:gdLst/>
            <a:ahLst/>
            <a:cxnLst/>
            <a:rect l="l" t="t" r="r" b="b"/>
            <a:pathLst>
              <a:path w="11081745" h="3629272">
                <a:moveTo>
                  <a:pt x="0" y="0"/>
                </a:moveTo>
                <a:lnTo>
                  <a:pt x="11081745" y="0"/>
                </a:lnTo>
                <a:lnTo>
                  <a:pt x="11081745" y="3629272"/>
                </a:lnTo>
                <a:lnTo>
                  <a:pt x="0" y="3629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31425" y="952900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SMOTE for Class Balancing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31425" y="2222532"/>
            <a:ext cx="15727875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27211E"/>
                </a:solidFill>
                <a:latin typeface="Arimo"/>
                <a:ea typeface="Arimo"/>
                <a:cs typeface="Arimo"/>
                <a:sym typeface="Arimo"/>
              </a:rPr>
              <a:t>We apply SMOTE only on the training data to balance class distribution for minority classes. This helps improve model performance by preventing bias toward majority classes.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946EB-741D-1414-100C-199000FB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88250" y="-389436"/>
            <a:ext cx="20808399" cy="12144992"/>
          </a:xfrm>
          <a:custGeom>
            <a:avLst/>
            <a:gdLst/>
            <a:ahLst/>
            <a:cxnLst/>
            <a:rect l="l" t="t" r="r" b="b"/>
            <a:pathLst>
              <a:path w="20808399" h="12144992">
                <a:moveTo>
                  <a:pt x="0" y="0"/>
                </a:moveTo>
                <a:lnTo>
                  <a:pt x="20808399" y="0"/>
                </a:lnTo>
                <a:lnTo>
                  <a:pt x="20808399" y="12144992"/>
                </a:lnTo>
                <a:lnTo>
                  <a:pt x="0" y="1214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883905" y="1511965"/>
            <a:ext cx="1536600" cy="1536600"/>
            <a:chOff x="0" y="0"/>
            <a:chExt cx="2048800" cy="2048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8764" cy="2048764"/>
            </a:xfrm>
            <a:custGeom>
              <a:avLst/>
              <a:gdLst/>
              <a:ahLst/>
              <a:cxnLst/>
              <a:rect l="l" t="t" r="r" b="b"/>
              <a:pathLst>
                <a:path w="2048764" h="2048764">
                  <a:moveTo>
                    <a:pt x="0" y="1024382"/>
                  </a:moveTo>
                  <a:cubicBezTo>
                    <a:pt x="0" y="458597"/>
                    <a:pt x="458597" y="0"/>
                    <a:pt x="1024382" y="0"/>
                  </a:cubicBezTo>
                  <a:cubicBezTo>
                    <a:pt x="1590167" y="0"/>
                    <a:pt x="2048764" y="458597"/>
                    <a:pt x="2048764" y="1024382"/>
                  </a:cubicBezTo>
                  <a:cubicBezTo>
                    <a:pt x="2048764" y="1590167"/>
                    <a:pt x="1590167" y="2048764"/>
                    <a:pt x="1024382" y="2048764"/>
                  </a:cubicBezTo>
                  <a:cubicBezTo>
                    <a:pt x="458597" y="2048764"/>
                    <a:pt x="0" y="1590167"/>
                    <a:pt x="0" y="1024382"/>
                  </a:cubicBezTo>
                  <a:close/>
                </a:path>
              </a:pathLst>
            </a:custGeom>
            <a:solidFill>
              <a:srgbClr val="FF79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15201" y="3327798"/>
            <a:ext cx="1536600" cy="1536600"/>
            <a:chOff x="0" y="0"/>
            <a:chExt cx="2048800" cy="204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8764" cy="2048764"/>
            </a:xfrm>
            <a:custGeom>
              <a:avLst/>
              <a:gdLst/>
              <a:ahLst/>
              <a:cxnLst/>
              <a:rect l="l" t="t" r="r" b="b"/>
              <a:pathLst>
                <a:path w="2048764" h="2048764">
                  <a:moveTo>
                    <a:pt x="0" y="1024382"/>
                  </a:moveTo>
                  <a:cubicBezTo>
                    <a:pt x="0" y="458597"/>
                    <a:pt x="458597" y="0"/>
                    <a:pt x="1024382" y="0"/>
                  </a:cubicBezTo>
                  <a:cubicBezTo>
                    <a:pt x="1590167" y="0"/>
                    <a:pt x="2048764" y="458597"/>
                    <a:pt x="2048764" y="1024382"/>
                  </a:cubicBezTo>
                  <a:cubicBezTo>
                    <a:pt x="2048764" y="1590167"/>
                    <a:pt x="1590167" y="2048764"/>
                    <a:pt x="1024382" y="2048764"/>
                  </a:cubicBezTo>
                  <a:cubicBezTo>
                    <a:pt x="458597" y="2048764"/>
                    <a:pt x="0" y="1590167"/>
                    <a:pt x="0" y="1024382"/>
                  </a:cubicBezTo>
                  <a:close/>
                </a:path>
              </a:pathLst>
            </a:custGeom>
            <a:solidFill>
              <a:srgbClr val="FF79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13984" y="5205052"/>
            <a:ext cx="1536600" cy="1536600"/>
            <a:chOff x="0" y="0"/>
            <a:chExt cx="2048800" cy="2048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8764" cy="2048764"/>
            </a:xfrm>
            <a:custGeom>
              <a:avLst/>
              <a:gdLst/>
              <a:ahLst/>
              <a:cxnLst/>
              <a:rect l="l" t="t" r="r" b="b"/>
              <a:pathLst>
                <a:path w="2048764" h="2048764">
                  <a:moveTo>
                    <a:pt x="0" y="1024382"/>
                  </a:moveTo>
                  <a:cubicBezTo>
                    <a:pt x="0" y="458597"/>
                    <a:pt x="458597" y="0"/>
                    <a:pt x="1024382" y="0"/>
                  </a:cubicBezTo>
                  <a:cubicBezTo>
                    <a:pt x="1590167" y="0"/>
                    <a:pt x="2048764" y="458597"/>
                    <a:pt x="2048764" y="1024382"/>
                  </a:cubicBezTo>
                  <a:cubicBezTo>
                    <a:pt x="2048764" y="1590167"/>
                    <a:pt x="1590167" y="2048764"/>
                    <a:pt x="1024382" y="2048764"/>
                  </a:cubicBezTo>
                  <a:cubicBezTo>
                    <a:pt x="458597" y="2048764"/>
                    <a:pt x="0" y="1590167"/>
                    <a:pt x="0" y="1024382"/>
                  </a:cubicBezTo>
                  <a:close/>
                </a:path>
              </a:pathLst>
            </a:custGeom>
            <a:solidFill>
              <a:srgbClr val="FF796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7390" y="330629"/>
            <a:ext cx="152251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Models used for forest fire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6025" y="5239285"/>
            <a:ext cx="288135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Models 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7420477" y="2255651"/>
            <a:ext cx="1495471" cy="2"/>
          </a:xfrm>
          <a:prstGeom prst="line">
            <a:avLst/>
          </a:prstGeom>
          <a:ln w="19050" cap="rnd">
            <a:solidFill>
              <a:srgbClr val="27211E"/>
            </a:solidFill>
            <a:prstDash val="solid"/>
            <a:headEnd type="triangle" w="lg" len="med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7448163" y="4040190"/>
            <a:ext cx="1495471" cy="1"/>
          </a:xfrm>
          <a:prstGeom prst="line">
            <a:avLst/>
          </a:prstGeom>
          <a:ln w="19050" cap="rnd">
            <a:solidFill>
              <a:srgbClr val="27211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7480663" y="5925085"/>
            <a:ext cx="1495471" cy="0"/>
          </a:xfrm>
          <a:prstGeom prst="line">
            <a:avLst/>
          </a:prstGeom>
          <a:ln w="19050" cap="rnd">
            <a:solidFill>
              <a:srgbClr val="27211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3657601" y="2476231"/>
            <a:ext cx="2189434" cy="3019693"/>
          </a:xfrm>
          <a:prstGeom prst="line">
            <a:avLst/>
          </a:prstGeom>
          <a:ln w="19050" cap="rnd">
            <a:solidFill>
              <a:srgbClr val="38271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3657602" y="5540149"/>
            <a:ext cx="2222908" cy="2126267"/>
          </a:xfrm>
          <a:prstGeom prst="line">
            <a:avLst/>
          </a:prstGeom>
          <a:ln w="19050" cap="rnd">
            <a:solidFill>
              <a:srgbClr val="38271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3657601" y="4262595"/>
            <a:ext cx="2257600" cy="1233330"/>
          </a:xfrm>
          <a:prstGeom prst="line">
            <a:avLst/>
          </a:prstGeom>
          <a:ln w="19050" cap="rnd">
            <a:solidFill>
              <a:srgbClr val="38271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957166" y="5644960"/>
            <a:ext cx="764690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K-Nearest Neighbors (KNN)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15948" y="3697290"/>
            <a:ext cx="627017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Gradient Boosting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00716" y="1981661"/>
            <a:ext cx="537230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 Random Forest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2D05CB5-25A5-F7D1-26F9-3F71A0B5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29C81E65-7743-4336-A11D-6B4D0AC52062}"/>
              </a:ext>
            </a:extLst>
          </p:cNvPr>
          <p:cNvGrpSpPr/>
          <p:nvPr/>
        </p:nvGrpSpPr>
        <p:grpSpPr>
          <a:xfrm>
            <a:off x="5900540" y="7004290"/>
            <a:ext cx="1536600" cy="1536600"/>
            <a:chOff x="0" y="0"/>
            <a:chExt cx="2048800" cy="2048800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391EDA51-3A8B-2602-8FAD-9697B9FA0F82}"/>
                </a:ext>
              </a:extLst>
            </p:cNvPr>
            <p:cNvSpPr/>
            <p:nvPr/>
          </p:nvSpPr>
          <p:spPr>
            <a:xfrm>
              <a:off x="0" y="0"/>
              <a:ext cx="2048764" cy="2048764"/>
            </a:xfrm>
            <a:custGeom>
              <a:avLst/>
              <a:gdLst/>
              <a:ahLst/>
              <a:cxnLst/>
              <a:rect l="l" t="t" r="r" b="b"/>
              <a:pathLst>
                <a:path w="2048764" h="2048764">
                  <a:moveTo>
                    <a:pt x="0" y="1024382"/>
                  </a:moveTo>
                  <a:cubicBezTo>
                    <a:pt x="0" y="458597"/>
                    <a:pt x="458597" y="0"/>
                    <a:pt x="1024382" y="0"/>
                  </a:cubicBezTo>
                  <a:cubicBezTo>
                    <a:pt x="1590167" y="0"/>
                    <a:pt x="2048764" y="458597"/>
                    <a:pt x="2048764" y="1024382"/>
                  </a:cubicBezTo>
                  <a:cubicBezTo>
                    <a:pt x="2048764" y="1590167"/>
                    <a:pt x="1590167" y="2048764"/>
                    <a:pt x="1024382" y="2048764"/>
                  </a:cubicBezTo>
                  <a:cubicBezTo>
                    <a:pt x="458597" y="2048764"/>
                    <a:pt x="0" y="1590167"/>
                    <a:pt x="0" y="1024382"/>
                  </a:cubicBezTo>
                  <a:close/>
                </a:path>
              </a:pathLst>
            </a:custGeom>
            <a:solidFill>
              <a:srgbClr val="FF796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AutoShape 16">
            <a:extLst>
              <a:ext uri="{FF2B5EF4-FFF2-40B4-BE49-F238E27FC236}">
                <a16:creationId xmlns:a16="http://schemas.microsoft.com/office/drawing/2014/main" id="{3BAE175A-0709-3C9B-C951-0D0D5ABC52A8}"/>
              </a:ext>
            </a:extLst>
          </p:cNvPr>
          <p:cNvSpPr/>
          <p:nvPr/>
        </p:nvSpPr>
        <p:spPr>
          <a:xfrm>
            <a:off x="3656385" y="5540148"/>
            <a:ext cx="2257600" cy="259019"/>
          </a:xfrm>
          <a:prstGeom prst="line">
            <a:avLst/>
          </a:prstGeom>
          <a:ln w="19050" cap="rnd">
            <a:solidFill>
              <a:srgbClr val="38271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DD0C86E3-AD7B-7ECE-3A61-ADB7177B5828}"/>
              </a:ext>
            </a:extLst>
          </p:cNvPr>
          <p:cNvSpPr/>
          <p:nvPr/>
        </p:nvSpPr>
        <p:spPr>
          <a:xfrm>
            <a:off x="7420477" y="7886700"/>
            <a:ext cx="1495471" cy="0"/>
          </a:xfrm>
          <a:prstGeom prst="line">
            <a:avLst/>
          </a:prstGeom>
          <a:ln w="19050" cap="rnd">
            <a:solidFill>
              <a:srgbClr val="27211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78D7D1-31E7-9561-8EFE-E6F2801CECED}"/>
              </a:ext>
            </a:extLst>
          </p:cNvPr>
          <p:cNvSpPr txBox="1"/>
          <p:nvPr/>
        </p:nvSpPr>
        <p:spPr>
          <a:xfrm>
            <a:off x="9039965" y="7492026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LINEAR REGRESSION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0" y="7718798"/>
            <a:ext cx="18287830" cy="2568012"/>
          </a:xfrm>
          <a:custGeom>
            <a:avLst/>
            <a:gdLst/>
            <a:ahLst/>
            <a:cxnLst/>
            <a:rect l="l" t="t" r="r" b="b"/>
            <a:pathLst>
              <a:path w="18287830" h="2568012">
                <a:moveTo>
                  <a:pt x="0" y="0"/>
                </a:moveTo>
                <a:lnTo>
                  <a:pt x="18287830" y="0"/>
                </a:lnTo>
                <a:lnTo>
                  <a:pt x="18287830" y="2568012"/>
                </a:lnTo>
                <a:lnTo>
                  <a:pt x="0" y="2568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191108" y="4213877"/>
            <a:ext cx="9207350" cy="10927250"/>
          </a:xfrm>
          <a:custGeom>
            <a:avLst/>
            <a:gdLst/>
            <a:ahLst/>
            <a:cxnLst/>
            <a:rect l="l" t="t" r="r" b="b"/>
            <a:pathLst>
              <a:path w="9207350" h="10927250">
                <a:moveTo>
                  <a:pt x="0" y="0"/>
                </a:moveTo>
                <a:lnTo>
                  <a:pt x="9207350" y="0"/>
                </a:lnTo>
                <a:lnTo>
                  <a:pt x="9207350" y="10927250"/>
                </a:lnTo>
                <a:lnTo>
                  <a:pt x="0" y="10927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648668" y="4959615"/>
            <a:ext cx="8139598" cy="7478120"/>
          </a:xfrm>
          <a:custGeom>
            <a:avLst/>
            <a:gdLst/>
            <a:ahLst/>
            <a:cxnLst/>
            <a:rect l="l" t="t" r="r" b="b"/>
            <a:pathLst>
              <a:path w="8139598" h="7478120">
                <a:moveTo>
                  <a:pt x="0" y="0"/>
                </a:moveTo>
                <a:lnTo>
                  <a:pt x="8139598" y="0"/>
                </a:lnTo>
                <a:lnTo>
                  <a:pt x="8139598" y="7478120"/>
                </a:lnTo>
                <a:lnTo>
                  <a:pt x="0" y="7478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400" y="7457600"/>
            <a:ext cx="18287830" cy="3374400"/>
          </a:xfrm>
          <a:custGeom>
            <a:avLst/>
            <a:gdLst/>
            <a:ahLst/>
            <a:cxnLst/>
            <a:rect l="l" t="t" r="r" b="b"/>
            <a:pathLst>
              <a:path w="18287830" h="3374400">
                <a:moveTo>
                  <a:pt x="0" y="0"/>
                </a:moveTo>
                <a:lnTo>
                  <a:pt x="18287830" y="0"/>
                </a:lnTo>
                <a:lnTo>
                  <a:pt x="18287830" y="3374400"/>
                </a:lnTo>
                <a:lnTo>
                  <a:pt x="0" y="337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76358" y="2813323"/>
            <a:ext cx="8775841" cy="2966384"/>
            <a:chOff x="0" y="0"/>
            <a:chExt cx="2311333" cy="7812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1333" cy="781270"/>
            </a:xfrm>
            <a:custGeom>
              <a:avLst/>
              <a:gdLst/>
              <a:ahLst/>
              <a:cxnLst/>
              <a:rect l="l" t="t" r="r" b="b"/>
              <a:pathLst>
                <a:path w="2311333" h="781270">
                  <a:moveTo>
                    <a:pt x="0" y="0"/>
                  </a:moveTo>
                  <a:lnTo>
                    <a:pt x="2311333" y="0"/>
                  </a:lnTo>
                  <a:lnTo>
                    <a:pt x="2311333" y="781270"/>
                  </a:lnTo>
                  <a:lnTo>
                    <a:pt x="0" y="781270"/>
                  </a:ln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11333" cy="819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40720" y="2813323"/>
            <a:ext cx="7218580" cy="2966384"/>
            <a:chOff x="0" y="0"/>
            <a:chExt cx="1901190" cy="7812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1190" cy="781270"/>
            </a:xfrm>
            <a:custGeom>
              <a:avLst/>
              <a:gdLst/>
              <a:ahLst/>
              <a:cxnLst/>
              <a:rect l="l" t="t" r="r" b="b"/>
              <a:pathLst>
                <a:path w="1901190" h="781270">
                  <a:moveTo>
                    <a:pt x="0" y="0"/>
                  </a:moveTo>
                  <a:lnTo>
                    <a:pt x="1901190" y="0"/>
                  </a:lnTo>
                  <a:lnTo>
                    <a:pt x="1901190" y="781270"/>
                  </a:lnTo>
                  <a:lnTo>
                    <a:pt x="0" y="781270"/>
                  </a:ln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01190" cy="819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36069" y="6179757"/>
            <a:ext cx="10602836" cy="2518918"/>
            <a:chOff x="0" y="0"/>
            <a:chExt cx="2792516" cy="663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92516" cy="663419"/>
            </a:xfrm>
            <a:custGeom>
              <a:avLst/>
              <a:gdLst/>
              <a:ahLst/>
              <a:cxnLst/>
              <a:rect l="l" t="t" r="r" b="b"/>
              <a:pathLst>
                <a:path w="2792516" h="663419">
                  <a:moveTo>
                    <a:pt x="0" y="0"/>
                  </a:moveTo>
                  <a:lnTo>
                    <a:pt x="2792516" y="0"/>
                  </a:lnTo>
                  <a:lnTo>
                    <a:pt x="2792516" y="663419"/>
                  </a:lnTo>
                  <a:lnTo>
                    <a:pt x="0" y="663419"/>
                  </a:ln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792516" cy="701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040720" y="3000375"/>
            <a:ext cx="7741607" cy="234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  <a:spcBef>
                <a:spcPct val="0"/>
              </a:spcBef>
            </a:pPr>
            <a:r>
              <a:rPr lang="en-US" sz="2833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                     </a:t>
            </a:r>
            <a:r>
              <a:rPr lang="en-US" sz="2833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 Random Forest</a:t>
            </a:r>
          </a:p>
          <a:p>
            <a:pPr marL="552536" lvl="1" indent="-276268" algn="l">
              <a:lnSpc>
                <a:spcPts val="3071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Works well with mixed weather + fire index features (FFMC, DMC, DC, etc.)</a:t>
            </a:r>
          </a:p>
          <a:p>
            <a:pPr marL="552536" lvl="1" indent="-276268" algn="l">
              <a:lnSpc>
                <a:spcPts val="3071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Handles non-linear relationship between features and fire severity</a:t>
            </a:r>
          </a:p>
          <a:p>
            <a:pPr marL="552536" lvl="1" indent="-276268" algn="l">
              <a:lnSpc>
                <a:spcPts val="3071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Gives stable results even with noisy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358" y="2990850"/>
            <a:ext cx="8775841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            </a:t>
            </a:r>
            <a:r>
              <a:rPr lang="en-US" sz="3099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K-Nearest Neighbors (KNN)</a:t>
            </a:r>
          </a:p>
          <a:p>
            <a:pPr marL="604519" lvl="1" indent="-30226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Dataset is relatively small (517 samples), which suits KNN</a:t>
            </a:r>
          </a:p>
          <a:p>
            <a:pPr marL="604519" lvl="1" indent="-30226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Works well for multi-class classification</a:t>
            </a:r>
          </a:p>
          <a:p>
            <a:pPr marL="604519" lvl="1" indent="-30226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Uses similarity between weather conditions to classify fire severity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80396" y="1674097"/>
            <a:ext cx="10327207" cy="73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1"/>
              </a:lnSpc>
            </a:pPr>
            <a:r>
              <a:rPr lang="en-US" sz="5501" b="1">
                <a:solidFill>
                  <a:srgbClr val="27211E"/>
                </a:solidFill>
                <a:latin typeface="Arimo Bold"/>
                <a:ea typeface="Arimo Bold"/>
                <a:cs typeface="Arimo Bold"/>
                <a:sym typeface="Arimo Bold"/>
              </a:rPr>
              <a:t>Why These Models Were Used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81188" y="6417882"/>
            <a:ext cx="10312598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                       </a:t>
            </a:r>
            <a:r>
              <a:rPr lang="en-US" sz="3099" b="1">
                <a:solidFill>
                  <a:srgbClr val="27211E"/>
                </a:solidFill>
                <a:latin typeface="DM Sans Bold"/>
                <a:ea typeface="DM Sans Bold"/>
                <a:cs typeface="DM Sans Bold"/>
                <a:sym typeface="DM Sans Bold"/>
              </a:rPr>
              <a:t>Gradient Boosting</a:t>
            </a:r>
          </a:p>
          <a:p>
            <a:pPr marL="604519" lvl="1" indent="-30226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Improves performance by learning from errors</a:t>
            </a:r>
          </a:p>
          <a:p>
            <a:pPr marL="604519" lvl="1" indent="-30226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Captures complex patterns in data</a:t>
            </a:r>
          </a:p>
          <a:p>
            <a:pPr marL="604519" lvl="1" indent="-30226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7211E"/>
                </a:solidFill>
                <a:latin typeface="DM Sans"/>
                <a:ea typeface="DM Sans"/>
                <a:cs typeface="DM Sans"/>
                <a:sym typeface="DM Sans"/>
              </a:rPr>
              <a:t>Captures small changes in weather conditions affecting fire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501F375-17DB-A594-3C3E-163C1353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00600" y="684571"/>
            <a:ext cx="8303506" cy="795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Random Forest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57802" y="1995212"/>
            <a:ext cx="14210407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Random Forest is a machine learning model that uses many decision trees together.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combines their results to give more accurate and stable predictions.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57802" y="3557312"/>
            <a:ext cx="14801498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Random Forest does NOT need scaling?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endParaRPr lang="en-US" sz="4999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Random Forest is a tree-based model. It splits data using thresholds (rules), 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not distance .    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5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SMOTE is used? 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Create synthetic samples for minority classes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Balance training data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helps Random Forest learn all classes better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D00A3-CC00-BED6-4403-71499D1A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601200" y="1866481"/>
            <a:ext cx="8274565" cy="4075093"/>
            <a:chOff x="0" y="0"/>
            <a:chExt cx="2818387" cy="8525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18387" cy="852515"/>
            </a:xfrm>
            <a:custGeom>
              <a:avLst/>
              <a:gdLst/>
              <a:ahLst/>
              <a:cxnLst/>
              <a:rect l="l" t="t" r="r" b="b"/>
              <a:pathLst>
                <a:path w="2818387" h="852515">
                  <a:moveTo>
                    <a:pt x="36897" y="0"/>
                  </a:moveTo>
                  <a:lnTo>
                    <a:pt x="2781490" y="0"/>
                  </a:lnTo>
                  <a:cubicBezTo>
                    <a:pt x="2791276" y="0"/>
                    <a:pt x="2800661" y="3887"/>
                    <a:pt x="2807580" y="10807"/>
                  </a:cubicBezTo>
                  <a:cubicBezTo>
                    <a:pt x="2814500" y="17726"/>
                    <a:pt x="2818387" y="27111"/>
                    <a:pt x="2818387" y="36897"/>
                  </a:cubicBezTo>
                  <a:lnTo>
                    <a:pt x="2818387" y="815618"/>
                  </a:lnTo>
                  <a:cubicBezTo>
                    <a:pt x="2818387" y="825404"/>
                    <a:pt x="2814500" y="834789"/>
                    <a:pt x="2807580" y="841708"/>
                  </a:cubicBezTo>
                  <a:cubicBezTo>
                    <a:pt x="2800661" y="848628"/>
                    <a:pt x="2791276" y="852515"/>
                    <a:pt x="2781490" y="852515"/>
                  </a:cubicBezTo>
                  <a:lnTo>
                    <a:pt x="36897" y="852515"/>
                  </a:lnTo>
                  <a:cubicBezTo>
                    <a:pt x="27111" y="852515"/>
                    <a:pt x="17726" y="848628"/>
                    <a:pt x="10807" y="841708"/>
                  </a:cubicBezTo>
                  <a:cubicBezTo>
                    <a:pt x="3887" y="834789"/>
                    <a:pt x="0" y="825404"/>
                    <a:pt x="0" y="815618"/>
                  </a:cubicBezTo>
                  <a:lnTo>
                    <a:pt x="0" y="36897"/>
                  </a:lnTo>
                  <a:cubicBezTo>
                    <a:pt x="0" y="27111"/>
                    <a:pt x="3887" y="17726"/>
                    <a:pt x="10807" y="10807"/>
                  </a:cubicBezTo>
                  <a:cubicBezTo>
                    <a:pt x="17726" y="3887"/>
                    <a:pt x="27111" y="0"/>
                    <a:pt x="36897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18387" cy="890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172662" y="2097548"/>
            <a:ext cx="8083383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estimators → number of trees in forest</a:t>
            </a:r>
          </a:p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depths → limits tree depth 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splits → minimum samples to split a node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leaves → minimum samples in leaf node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class_weight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='balanced' → handles class imbalance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random_state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=42 → ensures same results every run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1066" y="476865"/>
            <a:ext cx="930786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Hyperparameter Tuning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B6FDA-5A9F-A268-DE4D-1E4F05A2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D5D77F-5BDF-41B3-5B16-D988705B5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74" y="1648368"/>
            <a:ext cx="8274565" cy="4819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590F49-385E-F8DC-07A6-CD3DB28B2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6611450"/>
            <a:ext cx="15011400" cy="3458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974" y="269001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322438" y="609600"/>
            <a:ext cx="12603361" cy="87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Best RF Model Selection and Train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0B903-009E-E892-BC83-3AA1879A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7BB324-7DFB-30DF-A212-A0B201CD4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481" y="3749955"/>
            <a:ext cx="8915400" cy="58635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77360E-A037-6542-217E-17F8D9DD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1826499"/>
            <a:ext cx="5029199" cy="17021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B31AD9-17A2-2D43-E5C7-4D7408EFD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3749954"/>
            <a:ext cx="7505875" cy="58635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85800" y="1313990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886200" y="5464671"/>
            <a:ext cx="10825282" cy="4114800"/>
          </a:xfrm>
          <a:custGeom>
            <a:avLst/>
            <a:gdLst/>
            <a:ahLst/>
            <a:cxnLst/>
            <a:rect l="l" t="t" r="r" b="b"/>
            <a:pathLst>
              <a:path w="7745075" h="3959670">
                <a:moveTo>
                  <a:pt x="0" y="0"/>
                </a:moveTo>
                <a:lnTo>
                  <a:pt x="7745075" y="0"/>
                </a:lnTo>
                <a:lnTo>
                  <a:pt x="7745075" y="3959669"/>
                </a:lnTo>
                <a:lnTo>
                  <a:pt x="0" y="3959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457200" y="848650"/>
            <a:ext cx="17037770" cy="723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 Importance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0010-1EB6-166E-2A10-474E8EDB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11400" y="-123572"/>
            <a:ext cx="3124200" cy="990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03F4E-A339-147F-B026-AFDEF40F87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019512"/>
            <a:ext cx="9296400" cy="31239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B8CD7-23DF-86C0-C12A-E17FC56E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8A78AD-9F2C-B025-9935-E5EC7B21301A}"/>
              </a:ext>
            </a:extLst>
          </p:cNvPr>
          <p:cNvSpPr/>
          <p:nvPr/>
        </p:nvSpPr>
        <p:spPr>
          <a:xfrm>
            <a:off x="-685800" y="1313990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2BD565A-3FF8-DE1D-E049-FEA4C7D6D87E}"/>
              </a:ext>
            </a:extLst>
          </p:cNvPr>
          <p:cNvSpPr txBox="1"/>
          <p:nvPr/>
        </p:nvSpPr>
        <p:spPr>
          <a:xfrm>
            <a:off x="304800" y="958668"/>
            <a:ext cx="17037770" cy="723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Training on Selected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2D9F2-0D80-2409-7D11-233AD241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11400" y="-123572"/>
            <a:ext cx="3124200" cy="990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AFDA06-B6B7-753A-8684-31A88F996F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167"/>
          <a:stretch>
            <a:fillRect/>
          </a:stretch>
        </p:blipFill>
        <p:spPr>
          <a:xfrm>
            <a:off x="1143000" y="2857500"/>
            <a:ext cx="8001000" cy="5859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CD998D-CADE-7DEA-6AEA-A89A933A4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1" y="2857500"/>
            <a:ext cx="8250836" cy="585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10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00600" y="722671"/>
            <a:ext cx="8331113" cy="795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Gradient Boosting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462" y="1763247"/>
            <a:ext cx="1582753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Gradient Boosting is a machine learning model that builds many small decision trees step by step. Each new tree learns from the mistakes of the previous ones to improve performance.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57802" y="3545544"/>
            <a:ext cx="14502208" cy="515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scaling is NOT needed in Gradient Boosting?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endParaRPr lang="en-US" sz="45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Gradient Boosting uses decision trees, which split data using rules, not distance.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 feature scaling does not affect its performance.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Why SMOTE is used?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SMOTE is used to balance the dataset by creating new synthetic samples for minority classes.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448EC-EE22-EEC3-5B97-4B8BFC9B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39200" y="1460353"/>
            <a:ext cx="9238210" cy="4064147"/>
            <a:chOff x="0" y="0"/>
            <a:chExt cx="3013155" cy="852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3155" cy="852515"/>
            </a:xfrm>
            <a:custGeom>
              <a:avLst/>
              <a:gdLst/>
              <a:ahLst/>
              <a:cxnLst/>
              <a:rect l="l" t="t" r="r" b="b"/>
              <a:pathLst>
                <a:path w="3013155" h="852515">
                  <a:moveTo>
                    <a:pt x="34512" y="0"/>
                  </a:moveTo>
                  <a:lnTo>
                    <a:pt x="2978643" y="0"/>
                  </a:lnTo>
                  <a:cubicBezTo>
                    <a:pt x="2987796" y="0"/>
                    <a:pt x="2996574" y="3636"/>
                    <a:pt x="3003047" y="10108"/>
                  </a:cubicBezTo>
                  <a:cubicBezTo>
                    <a:pt x="3009519" y="16581"/>
                    <a:pt x="3013155" y="25359"/>
                    <a:pt x="3013155" y="34512"/>
                  </a:cubicBezTo>
                  <a:lnTo>
                    <a:pt x="3013155" y="818003"/>
                  </a:lnTo>
                  <a:cubicBezTo>
                    <a:pt x="3013155" y="827156"/>
                    <a:pt x="3009519" y="835935"/>
                    <a:pt x="3003047" y="842407"/>
                  </a:cubicBezTo>
                  <a:cubicBezTo>
                    <a:pt x="2996574" y="848879"/>
                    <a:pt x="2987796" y="852515"/>
                    <a:pt x="2978643" y="852515"/>
                  </a:cubicBezTo>
                  <a:lnTo>
                    <a:pt x="34512" y="852515"/>
                  </a:lnTo>
                  <a:cubicBezTo>
                    <a:pt x="25359" y="852515"/>
                    <a:pt x="16581" y="848879"/>
                    <a:pt x="10108" y="842407"/>
                  </a:cubicBezTo>
                  <a:cubicBezTo>
                    <a:pt x="3636" y="835935"/>
                    <a:pt x="0" y="827156"/>
                    <a:pt x="0" y="818003"/>
                  </a:cubicBezTo>
                  <a:lnTo>
                    <a:pt x="0" y="34512"/>
                  </a:lnTo>
                  <a:cubicBezTo>
                    <a:pt x="0" y="25359"/>
                    <a:pt x="3636" y="16581"/>
                    <a:pt x="10108" y="10108"/>
                  </a:cubicBezTo>
                  <a:cubicBezTo>
                    <a:pt x="16581" y="3636"/>
                    <a:pt x="25359" y="0"/>
                    <a:pt x="34512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13155" cy="890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220200" y="2016615"/>
            <a:ext cx="885721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n_estimators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Number of trees used in the model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learning_rate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How much each tree contributes to learning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max_depth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Maximum depth of each tree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random_state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→ Fixes randomness for same results every time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9118" y="676275"/>
            <a:ext cx="9300282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Hyperparameter Tuning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A8912-41D7-1C27-ED28-F09C9B3B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87A80D-61DE-197C-2B4F-1CA53FCF6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60353"/>
            <a:ext cx="7924800" cy="46737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2DADB7-D4D4-84A8-57A7-75BE446C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6266529"/>
            <a:ext cx="15849600" cy="33441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974" y="269001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157463" y="566738"/>
            <a:ext cx="11973074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Best GB Model Selection and Train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FEC19-90ED-3C4E-1C1C-FF9CACE8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FCE60-26B9-34D4-0563-8DA010A1E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132" y="1714658"/>
            <a:ext cx="5211736" cy="15677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6EC307-11ED-9645-9476-50F353BDF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0" y="3478253"/>
            <a:ext cx="8172624" cy="5574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6075B7-56D2-B048-0108-56F4B0529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0976" y="3478253"/>
            <a:ext cx="8347344" cy="56125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1399" y="604837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49825" y="1445598"/>
            <a:ext cx="9970975" cy="3439483"/>
          </a:xfrm>
          <a:custGeom>
            <a:avLst/>
            <a:gdLst/>
            <a:ahLst/>
            <a:cxnLst/>
            <a:rect l="l" t="t" r="r" b="b"/>
            <a:pathLst>
              <a:path w="6218248" h="3754267">
                <a:moveTo>
                  <a:pt x="0" y="0"/>
                </a:moveTo>
                <a:lnTo>
                  <a:pt x="6218248" y="0"/>
                </a:lnTo>
                <a:lnTo>
                  <a:pt x="6218248" y="3754267"/>
                </a:lnTo>
                <a:lnTo>
                  <a:pt x="0" y="3754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55390" y="576263"/>
            <a:ext cx="1657722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Feature Importance and Model Training on Selected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508D1-1F28-504F-9D87-084784EF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30400" y="0"/>
            <a:ext cx="3124200" cy="990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057E4-F373-144B-974E-DFF197D7F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1" y="5040042"/>
            <a:ext cx="7924800" cy="4920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FA977C-761F-901B-B208-DAF60B538D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5040041"/>
            <a:ext cx="7543799" cy="49202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38600" y="771512"/>
            <a:ext cx="9923351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KNN (K-Nearest Neighbors)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8463" y="1763247"/>
            <a:ext cx="1526154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KNN (K-Nearest Neighbors) is a machine learning model that classifies data based on the nearest similar data points.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57802" y="3555069"/>
            <a:ext cx="14801498" cy="561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scaling is needed in KNN?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endParaRPr lang="en-US" sz="39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KNN is a distance-based model, so features with large values can dominate the distance calculation. Scaling makes all features equal in importance. We use standard scaling here 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SMOTE is NOT used in KNN?</a:t>
            </a:r>
          </a:p>
          <a:p>
            <a:pPr algn="l">
              <a:lnSpc>
                <a:spcPts val="4800"/>
              </a:lnSpc>
              <a:spcBef>
                <a:spcPct val="0"/>
              </a:spcBef>
            </a:pPr>
            <a:endParaRPr lang="en-US" sz="40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KNN works directly with the original data points to find nearest neighbors So it does not need synthetic samples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6E968-3530-CEDB-6EBD-C71594AB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3496" y="6515100"/>
            <a:ext cx="9565784" cy="3236893"/>
            <a:chOff x="0" y="0"/>
            <a:chExt cx="2519384" cy="852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9384" cy="852515"/>
            </a:xfrm>
            <a:custGeom>
              <a:avLst/>
              <a:gdLst/>
              <a:ahLst/>
              <a:cxnLst/>
              <a:rect l="l" t="t" r="r" b="b"/>
              <a:pathLst>
                <a:path w="2519384" h="852515">
                  <a:moveTo>
                    <a:pt x="41276" y="0"/>
                  </a:moveTo>
                  <a:lnTo>
                    <a:pt x="2478108" y="0"/>
                  </a:lnTo>
                  <a:cubicBezTo>
                    <a:pt x="2489055" y="0"/>
                    <a:pt x="2499553" y="4349"/>
                    <a:pt x="2507294" y="12089"/>
                  </a:cubicBezTo>
                  <a:cubicBezTo>
                    <a:pt x="2515035" y="19830"/>
                    <a:pt x="2519384" y="30329"/>
                    <a:pt x="2519384" y="41276"/>
                  </a:cubicBezTo>
                  <a:lnTo>
                    <a:pt x="2519384" y="811239"/>
                  </a:lnTo>
                  <a:cubicBezTo>
                    <a:pt x="2519384" y="834035"/>
                    <a:pt x="2500904" y="852515"/>
                    <a:pt x="2478108" y="852515"/>
                  </a:cubicBezTo>
                  <a:lnTo>
                    <a:pt x="41276" y="852515"/>
                  </a:lnTo>
                  <a:cubicBezTo>
                    <a:pt x="18480" y="852515"/>
                    <a:pt x="0" y="834035"/>
                    <a:pt x="0" y="811239"/>
                  </a:cubicBezTo>
                  <a:lnTo>
                    <a:pt x="0" y="41276"/>
                  </a:lnTo>
                  <a:cubicBezTo>
                    <a:pt x="0" y="18480"/>
                    <a:pt x="18480" y="0"/>
                    <a:pt x="41276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19384" cy="890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758679"/>
            <a:ext cx="6939394" cy="4447229"/>
          </a:xfrm>
          <a:custGeom>
            <a:avLst/>
            <a:gdLst/>
            <a:ahLst/>
            <a:cxnLst/>
            <a:rect l="l" t="t" r="r" b="b"/>
            <a:pathLst>
              <a:path w="6939394" h="4061487">
                <a:moveTo>
                  <a:pt x="0" y="0"/>
                </a:moveTo>
                <a:lnTo>
                  <a:pt x="6939394" y="0"/>
                </a:lnTo>
                <a:lnTo>
                  <a:pt x="6939394" y="4061487"/>
                </a:lnTo>
                <a:lnTo>
                  <a:pt x="0" y="4061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7552" b="-241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229600" y="1995608"/>
            <a:ext cx="9741468" cy="3833691"/>
          </a:xfrm>
          <a:custGeom>
            <a:avLst/>
            <a:gdLst/>
            <a:ahLst/>
            <a:cxnLst/>
            <a:rect l="l" t="t" r="r" b="b"/>
            <a:pathLst>
              <a:path w="9323574" h="3147891">
                <a:moveTo>
                  <a:pt x="0" y="0"/>
                </a:moveTo>
                <a:lnTo>
                  <a:pt x="9323573" y="0"/>
                </a:lnTo>
                <a:lnTo>
                  <a:pt x="9323573" y="3147891"/>
                </a:lnTo>
                <a:lnTo>
                  <a:pt x="0" y="3147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332993" y="6814767"/>
            <a:ext cx="8629001" cy="262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Tested different distance metrics:</a:t>
            </a:r>
          </a:p>
          <a:p>
            <a:pPr marL="529943" lvl="1" indent="-264971" algn="l">
              <a:lnSpc>
                <a:spcPts val="2945"/>
              </a:lnSpc>
              <a:buFont typeface="Arial"/>
              <a:buChar char="•"/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Euclidean (straight-line distance)</a:t>
            </a:r>
          </a:p>
          <a:p>
            <a:pPr marL="529943" lvl="1" indent="-264971" algn="l">
              <a:lnSpc>
                <a:spcPts val="2945"/>
              </a:lnSpc>
              <a:buFont typeface="Arial"/>
              <a:buChar char="•"/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Manhattan (grid-based distance)</a:t>
            </a:r>
          </a:p>
          <a:p>
            <a:pPr marL="529943" lvl="1" indent="-264971" algn="l">
              <a:lnSpc>
                <a:spcPts val="2945"/>
              </a:lnSpc>
              <a:spcBef>
                <a:spcPct val="0"/>
              </a:spcBef>
              <a:buFont typeface="Arial"/>
              <a:buChar char="•"/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Minkowski (general form of both)</a:t>
            </a:r>
          </a:p>
          <a:p>
            <a:pPr algn="l">
              <a:lnSpc>
                <a:spcPts val="2945"/>
              </a:lnSpc>
              <a:spcBef>
                <a:spcPct val="0"/>
              </a:spcBef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Tested different values of K (neighbors):</a:t>
            </a:r>
          </a:p>
          <a:p>
            <a:pPr marL="529943" lvl="1" indent="-264971" algn="l">
              <a:lnSpc>
                <a:spcPts val="2945"/>
              </a:lnSpc>
              <a:spcBef>
                <a:spcPct val="0"/>
              </a:spcBef>
              <a:buFont typeface="Arial"/>
              <a:buChar char="•"/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 = 1 to 13</a:t>
            </a:r>
          </a:p>
          <a:p>
            <a:pPr algn="l">
              <a:lnSpc>
                <a:spcPts val="2945"/>
              </a:lnSpc>
              <a:spcBef>
                <a:spcPct val="0"/>
              </a:spcBef>
            </a:pPr>
            <a:r>
              <a:rPr lang="en-US" sz="24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Used scaled data (StandardScaler) for fair distance calculation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44974" y="666750"/>
            <a:ext cx="11447426" cy="795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Hyperparameter Tuning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C4192-61C7-F8D7-D842-BAE038CF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174872" y="1755096"/>
            <a:ext cx="4483728" cy="1712004"/>
          </a:xfrm>
          <a:custGeom>
            <a:avLst/>
            <a:gdLst/>
            <a:ahLst/>
            <a:cxnLst/>
            <a:rect l="l" t="t" r="r" b="b"/>
            <a:pathLst>
              <a:path w="3938257" h="2132316">
                <a:moveTo>
                  <a:pt x="0" y="0"/>
                </a:moveTo>
                <a:lnTo>
                  <a:pt x="3938256" y="0"/>
                </a:lnTo>
                <a:lnTo>
                  <a:pt x="3938256" y="2132316"/>
                </a:lnTo>
                <a:lnTo>
                  <a:pt x="0" y="2132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43001" y="3769633"/>
            <a:ext cx="8530878" cy="5364057"/>
          </a:xfrm>
          <a:custGeom>
            <a:avLst/>
            <a:gdLst/>
            <a:ahLst/>
            <a:cxnLst/>
            <a:rect l="l" t="t" r="r" b="b"/>
            <a:pathLst>
              <a:path w="8235345" h="4207911">
                <a:moveTo>
                  <a:pt x="0" y="0"/>
                </a:moveTo>
                <a:lnTo>
                  <a:pt x="8235345" y="0"/>
                </a:lnTo>
                <a:lnTo>
                  <a:pt x="8235345" y="4207911"/>
                </a:lnTo>
                <a:lnTo>
                  <a:pt x="0" y="4207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4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920454" y="566738"/>
            <a:ext cx="12447091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Best KNN Model Selection and Train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CDB2A-D27F-17D0-0D7C-B8A4B017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ACEDCD-045A-B980-F6D7-D0EAE278F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3769633"/>
            <a:ext cx="7818296" cy="53640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70394-A299-8848-B36E-58A29A2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691A196-FB5E-3C35-AA1F-20AE0104D45A}"/>
              </a:ext>
            </a:extLst>
          </p:cNvPr>
          <p:cNvSpPr txBox="1"/>
          <p:nvPr/>
        </p:nvSpPr>
        <p:spPr>
          <a:xfrm>
            <a:off x="4800600" y="722671"/>
            <a:ext cx="8331113" cy="795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48AC58-2671-1E10-F580-39FDD3574125}"/>
              </a:ext>
            </a:extLst>
          </p:cNvPr>
          <p:cNvSpPr txBox="1"/>
          <p:nvPr/>
        </p:nvSpPr>
        <p:spPr>
          <a:xfrm>
            <a:off x="1698462" y="1763247"/>
            <a:ext cx="1582753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Logistic Regression is a classification algorithm that predicts the probability of a binary outcome (0 or 1) using input features and a sigmoid function.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4E239C-57B5-61C4-7181-1F056F10266E}"/>
              </a:ext>
            </a:extLst>
          </p:cNvPr>
          <p:cNvSpPr txBox="1"/>
          <p:nvPr/>
        </p:nvSpPr>
        <p:spPr>
          <a:xfrm>
            <a:off x="2514600" y="3632897"/>
            <a:ext cx="14020800" cy="5931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/>
              <a:t>Why scaling needed in Logistic Regression?</a:t>
            </a:r>
          </a:p>
          <a:p>
            <a:r>
              <a:rPr lang="en-US" sz="3200" dirty="0"/>
              <a:t>Logistic Regression is a distance-based linear model that uses gradient optimization.</a:t>
            </a:r>
            <a:br>
              <a:rPr lang="en-US" sz="3200" dirty="0"/>
            </a:br>
            <a:r>
              <a:rPr lang="en-US" sz="3200" dirty="0"/>
              <a:t>So features with larger scales can dominate the learning process.</a:t>
            </a:r>
            <a:br>
              <a:rPr lang="en-US" sz="3200" dirty="0"/>
            </a:br>
            <a:endParaRPr lang="en-US" sz="3200" dirty="0"/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Why SMOTE is used?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SMOTE is used to balance the dataset by creating new synthetic samples for minority classes.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just">
              <a:lnSpc>
                <a:spcPts val="384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C487B-F1E7-C476-C229-B1D9CF11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07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30DEB-7F14-DD1A-07FD-B56BC375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DC621C-EE0E-8B19-EED8-D934D57B8F8A}"/>
              </a:ext>
            </a:extLst>
          </p:cNvPr>
          <p:cNvGrpSpPr/>
          <p:nvPr/>
        </p:nvGrpSpPr>
        <p:grpSpPr>
          <a:xfrm>
            <a:off x="8777128" y="1473126"/>
            <a:ext cx="9300282" cy="4140347"/>
            <a:chOff x="0" y="-38100"/>
            <a:chExt cx="3013155" cy="8906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4A100D-F6A0-FE96-71F7-01ACB1C58EB0}"/>
                </a:ext>
              </a:extLst>
            </p:cNvPr>
            <p:cNvSpPr/>
            <p:nvPr/>
          </p:nvSpPr>
          <p:spPr>
            <a:xfrm>
              <a:off x="0" y="0"/>
              <a:ext cx="3013155" cy="852515"/>
            </a:xfrm>
            <a:custGeom>
              <a:avLst/>
              <a:gdLst/>
              <a:ahLst/>
              <a:cxnLst/>
              <a:rect l="l" t="t" r="r" b="b"/>
              <a:pathLst>
                <a:path w="3013155" h="852515">
                  <a:moveTo>
                    <a:pt x="34512" y="0"/>
                  </a:moveTo>
                  <a:lnTo>
                    <a:pt x="2978643" y="0"/>
                  </a:lnTo>
                  <a:cubicBezTo>
                    <a:pt x="2987796" y="0"/>
                    <a:pt x="2996574" y="3636"/>
                    <a:pt x="3003047" y="10108"/>
                  </a:cubicBezTo>
                  <a:cubicBezTo>
                    <a:pt x="3009519" y="16581"/>
                    <a:pt x="3013155" y="25359"/>
                    <a:pt x="3013155" y="34512"/>
                  </a:cubicBezTo>
                  <a:lnTo>
                    <a:pt x="3013155" y="818003"/>
                  </a:lnTo>
                  <a:cubicBezTo>
                    <a:pt x="3013155" y="827156"/>
                    <a:pt x="3009519" y="835935"/>
                    <a:pt x="3003047" y="842407"/>
                  </a:cubicBezTo>
                  <a:cubicBezTo>
                    <a:pt x="2996574" y="848879"/>
                    <a:pt x="2987796" y="852515"/>
                    <a:pt x="2978643" y="852515"/>
                  </a:cubicBezTo>
                  <a:lnTo>
                    <a:pt x="34512" y="852515"/>
                  </a:lnTo>
                  <a:cubicBezTo>
                    <a:pt x="25359" y="852515"/>
                    <a:pt x="16581" y="848879"/>
                    <a:pt x="10108" y="842407"/>
                  </a:cubicBezTo>
                  <a:cubicBezTo>
                    <a:pt x="3636" y="835935"/>
                    <a:pt x="0" y="827156"/>
                    <a:pt x="0" y="818003"/>
                  </a:cubicBezTo>
                  <a:lnTo>
                    <a:pt x="0" y="34512"/>
                  </a:lnTo>
                  <a:cubicBezTo>
                    <a:pt x="0" y="25359"/>
                    <a:pt x="3636" y="16581"/>
                    <a:pt x="10108" y="10108"/>
                  </a:cubicBezTo>
                  <a:cubicBezTo>
                    <a:pt x="16581" y="3636"/>
                    <a:pt x="25359" y="0"/>
                    <a:pt x="34512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20BE86-5E26-E1AE-C257-A16CBA875003}"/>
                </a:ext>
              </a:extLst>
            </p:cNvPr>
            <p:cNvSpPr txBox="1"/>
            <p:nvPr/>
          </p:nvSpPr>
          <p:spPr>
            <a:xfrm>
              <a:off x="0" y="-38100"/>
              <a:ext cx="3013155" cy="890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0466DA1-76EB-55C4-2596-D5BF2C1C4D0F}"/>
              </a:ext>
            </a:extLst>
          </p:cNvPr>
          <p:cNvSpPr txBox="1"/>
          <p:nvPr/>
        </p:nvSpPr>
        <p:spPr>
          <a:xfrm>
            <a:off x="4924537" y="560906"/>
            <a:ext cx="9300282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Hyperparameter Tuning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2E53D0-3DE0-8FAA-E806-3CFEAAAD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88C39-E929-F5F8-3788-C2AF823C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90" y="1314463"/>
            <a:ext cx="8355948" cy="82962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19A8D-10D2-109D-F756-6DFC17C4F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6387323"/>
            <a:ext cx="4648200" cy="32344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3188CF-D4C1-6309-9308-572EAD3DC1B2}"/>
              </a:ext>
            </a:extLst>
          </p:cNvPr>
          <p:cNvSpPr txBox="1"/>
          <p:nvPr/>
        </p:nvSpPr>
        <p:spPr>
          <a:xfrm>
            <a:off x="8987718" y="2127238"/>
            <a:ext cx="93002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penalties</a:t>
            </a:r>
            <a:r>
              <a:rPr lang="en-US" alt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: Controls regularization to prevent overfitting and select features.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C_values</a:t>
            </a:r>
            <a:r>
              <a:rPr lang="en-US" altLang="en-US" sz="24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: </a:t>
            </a:r>
            <a:r>
              <a:rPr lang="en-US" alt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Sets strength of regularization.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Solvers: </a:t>
            </a:r>
            <a:r>
              <a:rPr lang="en-US" alt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Optimization methods used to train the model.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max_iters</a:t>
            </a:r>
            <a:r>
              <a:rPr lang="en-US" altLang="en-US" sz="24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: </a:t>
            </a:r>
            <a:r>
              <a:rPr lang="en-US" alt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Maximum iterations allowed for the model to converge.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class_weights</a:t>
            </a:r>
            <a:r>
              <a:rPr lang="en-US" alt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: Adjusts weights to handle imbalanced classes.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lr_results</a:t>
            </a:r>
            <a:r>
              <a:rPr lang="en-US" alt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: Stores results of different Logistic Regression experiments</a:t>
            </a:r>
            <a:endParaRPr lang="en-US" sz="24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431EA62-9FD0-5802-7882-2961888BE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3289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914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6EC0B-C813-2640-361C-7F2E5041C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7AD8D9-13BF-C700-D41E-3AEF2E95D22A}"/>
              </a:ext>
            </a:extLst>
          </p:cNvPr>
          <p:cNvSpPr/>
          <p:nvPr/>
        </p:nvSpPr>
        <p:spPr>
          <a:xfrm>
            <a:off x="-491974" y="269001"/>
            <a:ext cx="21124942" cy="12701452"/>
          </a:xfrm>
          <a:custGeom>
            <a:avLst/>
            <a:gdLst/>
            <a:ahLst/>
            <a:cxnLst/>
            <a:rect l="l" t="t" r="r" b="b"/>
            <a:pathLst>
              <a:path w="21124942" h="12701452">
                <a:moveTo>
                  <a:pt x="0" y="0"/>
                </a:moveTo>
                <a:lnTo>
                  <a:pt x="21124942" y="0"/>
                </a:lnTo>
                <a:lnTo>
                  <a:pt x="21124942" y="12701452"/>
                </a:lnTo>
                <a:lnTo>
                  <a:pt x="0" y="12701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9C70403-7946-97B7-45AC-09D5D2DDD245}"/>
              </a:ext>
            </a:extLst>
          </p:cNvPr>
          <p:cNvSpPr txBox="1"/>
          <p:nvPr/>
        </p:nvSpPr>
        <p:spPr>
          <a:xfrm>
            <a:off x="3157463" y="566738"/>
            <a:ext cx="11973074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Best LR Model Selection and Train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64396-FD32-7996-98E5-E62D86D6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DCB45C-3E36-73A2-E263-903559465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39176"/>
            <a:ext cx="4419600" cy="2227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32A251-1709-6D15-A67A-D6A650A0C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878" y="4305300"/>
            <a:ext cx="7743541" cy="48836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50C818-C823-C12C-26E0-5A826C873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4305300"/>
            <a:ext cx="7743541" cy="488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14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4683" y="2584819"/>
            <a:ext cx="4902740" cy="4562946"/>
          </a:xfrm>
          <a:custGeom>
            <a:avLst/>
            <a:gdLst/>
            <a:ahLst/>
            <a:cxnLst/>
            <a:rect l="l" t="t" r="r" b="b"/>
            <a:pathLst>
              <a:path w="4902740" h="4562946">
                <a:moveTo>
                  <a:pt x="0" y="0"/>
                </a:moveTo>
                <a:lnTo>
                  <a:pt x="4902740" y="0"/>
                </a:lnTo>
                <a:lnTo>
                  <a:pt x="4902740" y="4562946"/>
                </a:lnTo>
                <a:lnTo>
                  <a:pt x="0" y="4562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513056" y="2584819"/>
            <a:ext cx="4902740" cy="4562946"/>
          </a:xfrm>
          <a:custGeom>
            <a:avLst/>
            <a:gdLst/>
            <a:ahLst/>
            <a:cxnLst/>
            <a:rect l="l" t="t" r="r" b="b"/>
            <a:pathLst>
              <a:path w="4902740" h="4562946">
                <a:moveTo>
                  <a:pt x="0" y="0"/>
                </a:moveTo>
                <a:lnTo>
                  <a:pt x="4902740" y="0"/>
                </a:lnTo>
                <a:lnTo>
                  <a:pt x="4902740" y="4562946"/>
                </a:lnTo>
                <a:lnTo>
                  <a:pt x="0" y="456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141764" y="2584819"/>
            <a:ext cx="4993309" cy="4647238"/>
          </a:xfrm>
          <a:custGeom>
            <a:avLst/>
            <a:gdLst/>
            <a:ahLst/>
            <a:cxnLst/>
            <a:rect l="l" t="t" r="r" b="b"/>
            <a:pathLst>
              <a:path w="4993309" h="4647238">
                <a:moveTo>
                  <a:pt x="0" y="0"/>
                </a:moveTo>
                <a:lnTo>
                  <a:pt x="4993309" y="0"/>
                </a:lnTo>
                <a:lnTo>
                  <a:pt x="4993309" y="4647238"/>
                </a:lnTo>
                <a:lnTo>
                  <a:pt x="0" y="4647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7490639"/>
            <a:ext cx="4902740" cy="1175089"/>
            <a:chOff x="0" y="0"/>
            <a:chExt cx="1291257" cy="3094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1257" cy="309488"/>
            </a:xfrm>
            <a:custGeom>
              <a:avLst/>
              <a:gdLst/>
              <a:ahLst/>
              <a:cxnLst/>
              <a:rect l="l" t="t" r="r" b="b"/>
              <a:pathLst>
                <a:path w="1291257" h="309488">
                  <a:moveTo>
                    <a:pt x="1088057" y="0"/>
                  </a:moveTo>
                  <a:cubicBezTo>
                    <a:pt x="1200281" y="0"/>
                    <a:pt x="1291257" y="69281"/>
                    <a:pt x="1291257" y="154744"/>
                  </a:cubicBezTo>
                  <a:cubicBezTo>
                    <a:pt x="1291257" y="240207"/>
                    <a:pt x="1200281" y="309488"/>
                    <a:pt x="1088057" y="309488"/>
                  </a:cubicBezTo>
                  <a:lnTo>
                    <a:pt x="203200" y="309488"/>
                  </a:lnTo>
                  <a:cubicBezTo>
                    <a:pt x="90976" y="309488"/>
                    <a:pt x="0" y="240207"/>
                    <a:pt x="0" y="154744"/>
                  </a:cubicBezTo>
                  <a:cubicBezTo>
                    <a:pt x="0" y="692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91257" cy="347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37485" y="7490639"/>
            <a:ext cx="5372716" cy="1175089"/>
            <a:chOff x="0" y="0"/>
            <a:chExt cx="1415036" cy="309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5036" cy="309488"/>
            </a:xfrm>
            <a:custGeom>
              <a:avLst/>
              <a:gdLst/>
              <a:ahLst/>
              <a:cxnLst/>
              <a:rect l="l" t="t" r="r" b="b"/>
              <a:pathLst>
                <a:path w="1415036" h="309488">
                  <a:moveTo>
                    <a:pt x="1211836" y="0"/>
                  </a:moveTo>
                  <a:cubicBezTo>
                    <a:pt x="1324061" y="0"/>
                    <a:pt x="1415036" y="69281"/>
                    <a:pt x="1415036" y="154744"/>
                  </a:cubicBezTo>
                  <a:cubicBezTo>
                    <a:pt x="1415036" y="240207"/>
                    <a:pt x="1324061" y="309488"/>
                    <a:pt x="1211836" y="309488"/>
                  </a:cubicBezTo>
                  <a:lnTo>
                    <a:pt x="203200" y="309488"/>
                  </a:lnTo>
                  <a:cubicBezTo>
                    <a:pt x="90976" y="309488"/>
                    <a:pt x="0" y="240207"/>
                    <a:pt x="0" y="154744"/>
                  </a:cubicBezTo>
                  <a:cubicBezTo>
                    <a:pt x="0" y="692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15036" cy="347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16245" y="7438073"/>
            <a:ext cx="5923031" cy="1227655"/>
            <a:chOff x="0" y="0"/>
            <a:chExt cx="1559975" cy="323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9975" cy="323333"/>
            </a:xfrm>
            <a:custGeom>
              <a:avLst/>
              <a:gdLst/>
              <a:ahLst/>
              <a:cxnLst/>
              <a:rect l="l" t="t" r="r" b="b"/>
              <a:pathLst>
                <a:path w="1559975" h="323333">
                  <a:moveTo>
                    <a:pt x="1356775" y="0"/>
                  </a:moveTo>
                  <a:cubicBezTo>
                    <a:pt x="1469000" y="0"/>
                    <a:pt x="1559975" y="72381"/>
                    <a:pt x="1559975" y="161666"/>
                  </a:cubicBezTo>
                  <a:cubicBezTo>
                    <a:pt x="1559975" y="250952"/>
                    <a:pt x="1469000" y="323333"/>
                    <a:pt x="1356775" y="323333"/>
                  </a:cubicBezTo>
                  <a:lnTo>
                    <a:pt x="203200" y="323333"/>
                  </a:lnTo>
                  <a:cubicBezTo>
                    <a:pt x="90976" y="323333"/>
                    <a:pt x="0" y="250952"/>
                    <a:pt x="0" y="161666"/>
                  </a:cubicBezTo>
                  <a:cubicBezTo>
                    <a:pt x="0" y="723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9975" cy="36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112358" y="666750"/>
            <a:ext cx="570413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Confusion Matrix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6543" y="7736421"/>
            <a:ext cx="4496270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Random Forest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7897" y="7736421"/>
            <a:ext cx="6543120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Gradient Boosting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41764" y="7708482"/>
            <a:ext cx="568225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 Nearest Neighbors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9EFF4AF-C69D-8451-D2C0-B4A7677E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8E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7010" y="2136414"/>
            <a:ext cx="5417962" cy="4834626"/>
          </a:xfrm>
          <a:custGeom>
            <a:avLst/>
            <a:gdLst/>
            <a:ahLst/>
            <a:cxnLst/>
            <a:rect l="l" t="t" r="r" b="b"/>
            <a:pathLst>
              <a:path w="5417962" h="4834626">
                <a:moveTo>
                  <a:pt x="0" y="0"/>
                </a:moveTo>
                <a:lnTo>
                  <a:pt x="5417962" y="0"/>
                </a:lnTo>
                <a:lnTo>
                  <a:pt x="5417962" y="4834626"/>
                </a:lnTo>
                <a:lnTo>
                  <a:pt x="0" y="4834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35019" y="2136414"/>
            <a:ext cx="5417962" cy="4834626"/>
          </a:xfrm>
          <a:custGeom>
            <a:avLst/>
            <a:gdLst/>
            <a:ahLst/>
            <a:cxnLst/>
            <a:rect l="l" t="t" r="r" b="b"/>
            <a:pathLst>
              <a:path w="5417962" h="4834626">
                <a:moveTo>
                  <a:pt x="0" y="0"/>
                </a:moveTo>
                <a:lnTo>
                  <a:pt x="5417962" y="0"/>
                </a:lnTo>
                <a:lnTo>
                  <a:pt x="5417962" y="4834626"/>
                </a:lnTo>
                <a:lnTo>
                  <a:pt x="0" y="483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338756" y="2136414"/>
            <a:ext cx="5417962" cy="4834626"/>
          </a:xfrm>
          <a:custGeom>
            <a:avLst/>
            <a:gdLst/>
            <a:ahLst/>
            <a:cxnLst/>
            <a:rect l="l" t="t" r="r" b="b"/>
            <a:pathLst>
              <a:path w="5417962" h="4834626">
                <a:moveTo>
                  <a:pt x="0" y="0"/>
                </a:moveTo>
                <a:lnTo>
                  <a:pt x="5417963" y="0"/>
                </a:lnTo>
                <a:lnTo>
                  <a:pt x="5417963" y="4834626"/>
                </a:lnTo>
                <a:lnTo>
                  <a:pt x="0" y="4834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306213" y="685800"/>
            <a:ext cx="5417962" cy="795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ROC Curve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84621" y="7490639"/>
            <a:ext cx="4902740" cy="1175089"/>
            <a:chOff x="0" y="0"/>
            <a:chExt cx="1291257" cy="309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91257" cy="309488"/>
            </a:xfrm>
            <a:custGeom>
              <a:avLst/>
              <a:gdLst/>
              <a:ahLst/>
              <a:cxnLst/>
              <a:rect l="l" t="t" r="r" b="b"/>
              <a:pathLst>
                <a:path w="1291257" h="309488">
                  <a:moveTo>
                    <a:pt x="1088057" y="0"/>
                  </a:moveTo>
                  <a:cubicBezTo>
                    <a:pt x="1200281" y="0"/>
                    <a:pt x="1291257" y="69281"/>
                    <a:pt x="1291257" y="154744"/>
                  </a:cubicBezTo>
                  <a:cubicBezTo>
                    <a:pt x="1291257" y="240207"/>
                    <a:pt x="1200281" y="309488"/>
                    <a:pt x="1088057" y="309488"/>
                  </a:cubicBezTo>
                  <a:lnTo>
                    <a:pt x="203200" y="309488"/>
                  </a:lnTo>
                  <a:cubicBezTo>
                    <a:pt x="90976" y="309488"/>
                    <a:pt x="0" y="240207"/>
                    <a:pt x="0" y="154744"/>
                  </a:cubicBezTo>
                  <a:cubicBezTo>
                    <a:pt x="0" y="692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91257" cy="347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5019" y="7490639"/>
            <a:ext cx="5160351" cy="1175089"/>
            <a:chOff x="0" y="0"/>
            <a:chExt cx="1359105" cy="309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9105" cy="309488"/>
            </a:xfrm>
            <a:custGeom>
              <a:avLst/>
              <a:gdLst/>
              <a:ahLst/>
              <a:cxnLst/>
              <a:rect l="l" t="t" r="r" b="b"/>
              <a:pathLst>
                <a:path w="1359105" h="309488">
                  <a:moveTo>
                    <a:pt x="1155905" y="0"/>
                  </a:moveTo>
                  <a:cubicBezTo>
                    <a:pt x="1268129" y="0"/>
                    <a:pt x="1359105" y="69281"/>
                    <a:pt x="1359105" y="154744"/>
                  </a:cubicBezTo>
                  <a:cubicBezTo>
                    <a:pt x="1359105" y="240207"/>
                    <a:pt x="1268129" y="309488"/>
                    <a:pt x="1155905" y="309488"/>
                  </a:cubicBezTo>
                  <a:lnTo>
                    <a:pt x="203200" y="309488"/>
                  </a:lnTo>
                  <a:cubicBezTo>
                    <a:pt x="90976" y="309488"/>
                    <a:pt x="0" y="240207"/>
                    <a:pt x="0" y="154744"/>
                  </a:cubicBezTo>
                  <a:cubicBezTo>
                    <a:pt x="0" y="692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59105" cy="347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38756" y="7490639"/>
            <a:ext cx="5417962" cy="1175089"/>
            <a:chOff x="0" y="0"/>
            <a:chExt cx="1426953" cy="309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6953" cy="309488"/>
            </a:xfrm>
            <a:custGeom>
              <a:avLst/>
              <a:gdLst/>
              <a:ahLst/>
              <a:cxnLst/>
              <a:rect l="l" t="t" r="r" b="b"/>
              <a:pathLst>
                <a:path w="1426953" h="309488">
                  <a:moveTo>
                    <a:pt x="1223753" y="0"/>
                  </a:moveTo>
                  <a:cubicBezTo>
                    <a:pt x="1335977" y="0"/>
                    <a:pt x="1426953" y="69281"/>
                    <a:pt x="1426953" y="154744"/>
                  </a:cubicBezTo>
                  <a:cubicBezTo>
                    <a:pt x="1426953" y="240207"/>
                    <a:pt x="1335977" y="309488"/>
                    <a:pt x="1223753" y="309488"/>
                  </a:cubicBezTo>
                  <a:lnTo>
                    <a:pt x="203200" y="309488"/>
                  </a:lnTo>
                  <a:cubicBezTo>
                    <a:pt x="90976" y="309488"/>
                    <a:pt x="0" y="240207"/>
                    <a:pt x="0" y="154744"/>
                  </a:cubicBezTo>
                  <a:cubicBezTo>
                    <a:pt x="0" y="692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E77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26953" cy="347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27010" y="7700357"/>
            <a:ext cx="4902740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92630" y="7656840"/>
            <a:ext cx="4645129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Gradient Boosting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8756" y="7690832"/>
            <a:ext cx="5663930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 Nearest Neighbors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F3D25AF-29F8-32B9-CDFF-35BD7864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400" y="8219680"/>
            <a:ext cx="18392750" cy="2106098"/>
          </a:xfrm>
          <a:custGeom>
            <a:avLst/>
            <a:gdLst/>
            <a:ahLst/>
            <a:cxnLst/>
            <a:rect l="l" t="t" r="r" b="b"/>
            <a:pathLst>
              <a:path w="18392750" h="2106098">
                <a:moveTo>
                  <a:pt x="0" y="0"/>
                </a:moveTo>
                <a:lnTo>
                  <a:pt x="18392750" y="0"/>
                </a:lnTo>
                <a:lnTo>
                  <a:pt x="18392750" y="2106098"/>
                </a:lnTo>
                <a:lnTo>
                  <a:pt x="0" y="2106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66900" y="0"/>
            <a:ext cx="3046600" cy="10679450"/>
          </a:xfrm>
          <a:custGeom>
            <a:avLst/>
            <a:gdLst/>
            <a:ahLst/>
            <a:cxnLst/>
            <a:rect l="l" t="t" r="r" b="b"/>
            <a:pathLst>
              <a:path w="3046600" h="10679450">
                <a:moveTo>
                  <a:pt x="0" y="0"/>
                </a:moveTo>
                <a:lnTo>
                  <a:pt x="3046600" y="0"/>
                </a:lnTo>
                <a:lnTo>
                  <a:pt x="3046600" y="10679450"/>
                </a:lnTo>
                <a:lnTo>
                  <a:pt x="0" y="10679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7358050" y="394464"/>
            <a:ext cx="532150" cy="218900"/>
            <a:chOff x="0" y="0"/>
            <a:chExt cx="709533" cy="291867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709549" cy="291719"/>
            </a:xfrm>
            <a:custGeom>
              <a:avLst/>
              <a:gdLst/>
              <a:ahLst/>
              <a:cxnLst/>
              <a:rect l="l" t="t" r="r" b="b"/>
              <a:pathLst>
                <a:path w="709549" h="291719">
                  <a:moveTo>
                    <a:pt x="709549" y="0"/>
                  </a:moveTo>
                  <a:lnTo>
                    <a:pt x="387223" y="291719"/>
                  </a:lnTo>
                  <a:lnTo>
                    <a:pt x="0" y="22479"/>
                  </a:lnTo>
                  <a:cubicBezTo>
                    <a:pt x="3175" y="22352"/>
                    <a:pt x="6223" y="22352"/>
                    <a:pt x="9398" y="22352"/>
                  </a:cubicBezTo>
                  <a:cubicBezTo>
                    <a:pt x="254254" y="22352"/>
                    <a:pt x="342138" y="226695"/>
                    <a:pt x="342138" y="226695"/>
                  </a:cubicBezTo>
                  <a:cubicBezTo>
                    <a:pt x="432308" y="10541"/>
                    <a:pt x="709422" y="0"/>
                    <a:pt x="709549" y="0"/>
                  </a:cubicBezTo>
                  <a:close/>
                </a:path>
              </a:pathLst>
            </a:custGeom>
            <a:solidFill>
              <a:srgbClr val="27211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6957750" y="2748833"/>
            <a:ext cx="1382600" cy="1426500"/>
          </a:xfrm>
          <a:custGeom>
            <a:avLst/>
            <a:gdLst/>
            <a:ahLst/>
            <a:cxnLst/>
            <a:rect l="l" t="t" r="r" b="b"/>
            <a:pathLst>
              <a:path w="1382600" h="1426500">
                <a:moveTo>
                  <a:pt x="0" y="0"/>
                </a:moveTo>
                <a:lnTo>
                  <a:pt x="1382600" y="0"/>
                </a:lnTo>
                <a:lnTo>
                  <a:pt x="1382600" y="1426500"/>
                </a:lnTo>
                <a:lnTo>
                  <a:pt x="0" y="1426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84612" y="394464"/>
            <a:ext cx="3046600" cy="10679450"/>
          </a:xfrm>
          <a:custGeom>
            <a:avLst/>
            <a:gdLst/>
            <a:ahLst/>
            <a:cxnLst/>
            <a:rect l="l" t="t" r="r" b="b"/>
            <a:pathLst>
              <a:path w="3046600" h="10679450">
                <a:moveTo>
                  <a:pt x="0" y="0"/>
                </a:moveTo>
                <a:lnTo>
                  <a:pt x="3046600" y="0"/>
                </a:lnTo>
                <a:lnTo>
                  <a:pt x="3046600" y="10679450"/>
                </a:lnTo>
                <a:lnTo>
                  <a:pt x="0" y="10679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953000" y="752051"/>
            <a:ext cx="8139559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Final Model comparison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88E721-BD9A-6B3A-EB48-39C380FB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8301A-3C83-CCE8-E37F-A5E3C2D70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203" y="1943100"/>
            <a:ext cx="11195368" cy="717359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750" y="8837406"/>
            <a:ext cx="18392750" cy="2106098"/>
          </a:xfrm>
          <a:custGeom>
            <a:avLst/>
            <a:gdLst/>
            <a:ahLst/>
            <a:cxnLst/>
            <a:rect l="l" t="t" r="r" b="b"/>
            <a:pathLst>
              <a:path w="18392750" h="2106098">
                <a:moveTo>
                  <a:pt x="0" y="0"/>
                </a:moveTo>
                <a:lnTo>
                  <a:pt x="18392750" y="0"/>
                </a:lnTo>
                <a:lnTo>
                  <a:pt x="18392750" y="2106098"/>
                </a:lnTo>
                <a:lnTo>
                  <a:pt x="0" y="2106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66900" y="0"/>
            <a:ext cx="3046600" cy="10679450"/>
          </a:xfrm>
          <a:custGeom>
            <a:avLst/>
            <a:gdLst/>
            <a:ahLst/>
            <a:cxnLst/>
            <a:rect l="l" t="t" r="r" b="b"/>
            <a:pathLst>
              <a:path w="3046600" h="10679450">
                <a:moveTo>
                  <a:pt x="0" y="0"/>
                </a:moveTo>
                <a:lnTo>
                  <a:pt x="3046600" y="0"/>
                </a:lnTo>
                <a:lnTo>
                  <a:pt x="3046600" y="10679450"/>
                </a:lnTo>
                <a:lnTo>
                  <a:pt x="0" y="10679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7358050" y="394464"/>
            <a:ext cx="532150" cy="218900"/>
            <a:chOff x="0" y="0"/>
            <a:chExt cx="709533" cy="291867"/>
          </a:xfrm>
        </p:grpSpPr>
        <p:sp>
          <p:nvSpPr>
            <p:cNvPr id="5" name="Freeform 5"/>
            <p:cNvSpPr/>
            <p:nvPr/>
          </p:nvSpPr>
          <p:spPr>
            <a:xfrm>
              <a:off x="0" y="127"/>
              <a:ext cx="709549" cy="291719"/>
            </a:xfrm>
            <a:custGeom>
              <a:avLst/>
              <a:gdLst/>
              <a:ahLst/>
              <a:cxnLst/>
              <a:rect l="l" t="t" r="r" b="b"/>
              <a:pathLst>
                <a:path w="709549" h="291719">
                  <a:moveTo>
                    <a:pt x="709549" y="0"/>
                  </a:moveTo>
                  <a:lnTo>
                    <a:pt x="387223" y="291719"/>
                  </a:lnTo>
                  <a:lnTo>
                    <a:pt x="0" y="22479"/>
                  </a:lnTo>
                  <a:cubicBezTo>
                    <a:pt x="3175" y="22352"/>
                    <a:pt x="6223" y="22352"/>
                    <a:pt x="9398" y="22352"/>
                  </a:cubicBezTo>
                  <a:cubicBezTo>
                    <a:pt x="254254" y="22352"/>
                    <a:pt x="342138" y="226695"/>
                    <a:pt x="342138" y="226695"/>
                  </a:cubicBezTo>
                  <a:cubicBezTo>
                    <a:pt x="432308" y="10541"/>
                    <a:pt x="709422" y="0"/>
                    <a:pt x="709549" y="0"/>
                  </a:cubicBezTo>
                  <a:close/>
                </a:path>
              </a:pathLst>
            </a:custGeom>
            <a:solidFill>
              <a:srgbClr val="27211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6957750" y="5020939"/>
            <a:ext cx="1382600" cy="1426500"/>
          </a:xfrm>
          <a:custGeom>
            <a:avLst/>
            <a:gdLst/>
            <a:ahLst/>
            <a:cxnLst/>
            <a:rect l="l" t="t" r="r" b="b"/>
            <a:pathLst>
              <a:path w="1382600" h="1426500">
                <a:moveTo>
                  <a:pt x="0" y="0"/>
                </a:moveTo>
                <a:lnTo>
                  <a:pt x="1382600" y="0"/>
                </a:lnTo>
                <a:lnTo>
                  <a:pt x="1382600" y="1426500"/>
                </a:lnTo>
                <a:lnTo>
                  <a:pt x="0" y="1426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494600" y="0"/>
            <a:ext cx="3046600" cy="10679450"/>
          </a:xfrm>
          <a:custGeom>
            <a:avLst/>
            <a:gdLst/>
            <a:ahLst/>
            <a:cxnLst/>
            <a:rect l="l" t="t" r="r" b="b"/>
            <a:pathLst>
              <a:path w="3046600" h="10679450">
                <a:moveTo>
                  <a:pt x="0" y="0"/>
                </a:moveTo>
                <a:lnTo>
                  <a:pt x="3046600" y="0"/>
                </a:lnTo>
                <a:lnTo>
                  <a:pt x="3046600" y="10679450"/>
                </a:lnTo>
                <a:lnTo>
                  <a:pt x="0" y="10679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973628" y="4093737"/>
            <a:ext cx="12248107" cy="587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Which Model is Best ?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4536" lvl="1" indent="-302268" algn="l">
              <a:lnSpc>
                <a:spcPts val="336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Dataset is imbalanced → Accuracy alone is not reliable</a:t>
            </a:r>
          </a:p>
          <a:p>
            <a:pPr marL="604536" lvl="1" indent="-302268" algn="l">
              <a:lnSpc>
                <a:spcPts val="336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F1 Score along with the Accuracy</a:t>
            </a:r>
          </a:p>
          <a:p>
            <a:pPr marL="604536" lvl="1" indent="-302268" algn="l">
              <a:lnSpc>
                <a:spcPts val="336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Comparing all models Gradient Boosting has the highest F1 Score and Accuracy.</a:t>
            </a:r>
          </a:p>
          <a:p>
            <a:pPr algn="l">
              <a:lnSpc>
                <a:spcPts val="3360"/>
              </a:lnSpc>
            </a:pPr>
            <a:endParaRPr lang="en-US" sz="28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</a:t>
            </a:r>
            <a:r>
              <a:rPr lang="en-US" sz="3200" b="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Gradient Boosting </a:t>
            </a:r>
            <a:r>
              <a:rPr lang="en-US" sz="30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Performs Best?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7715" lvl="1" indent="-323857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Works well on small datasets (517 samples)</a:t>
            </a:r>
          </a:p>
          <a:p>
            <a:pPr marL="647715" lvl="1" indent="-323857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Scaling improved distance calculation</a:t>
            </a:r>
          </a:p>
          <a:p>
            <a:pPr marL="647715" lvl="1" indent="-323857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Captures patterns between similar data points</a:t>
            </a:r>
          </a:p>
          <a:p>
            <a:pPr marL="647715" lvl="1" indent="-323857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Other models (RF, KNN, LR) slightly weaker on minority classes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9400" y="817945"/>
            <a:ext cx="399097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Best Model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7EE5896-CFFF-54CA-0546-AC4981BB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65B3AD-1570-7B78-3C0F-832E487E0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165" y="1715728"/>
            <a:ext cx="11088901" cy="23660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610" y="1612350"/>
            <a:ext cx="18457822" cy="8668350"/>
          </a:xfrm>
          <a:custGeom>
            <a:avLst/>
            <a:gdLst/>
            <a:ahLst/>
            <a:cxnLst/>
            <a:rect l="l" t="t" r="r" b="b"/>
            <a:pathLst>
              <a:path w="18457822" h="8668350">
                <a:moveTo>
                  <a:pt x="0" y="0"/>
                </a:moveTo>
                <a:lnTo>
                  <a:pt x="18457822" y="0"/>
                </a:lnTo>
                <a:lnTo>
                  <a:pt x="18457822" y="8668350"/>
                </a:lnTo>
                <a:lnTo>
                  <a:pt x="0" y="8668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10057" y="1214320"/>
            <a:ext cx="13506833" cy="12956931"/>
          </a:xfrm>
          <a:custGeom>
            <a:avLst/>
            <a:gdLst/>
            <a:ahLst/>
            <a:cxnLst/>
            <a:rect l="l" t="t" r="r" b="b"/>
            <a:pathLst>
              <a:path w="13506833" h="12956931">
                <a:moveTo>
                  <a:pt x="0" y="0"/>
                </a:moveTo>
                <a:lnTo>
                  <a:pt x="13506834" y="0"/>
                </a:lnTo>
                <a:lnTo>
                  <a:pt x="13506834" y="12956930"/>
                </a:lnTo>
                <a:lnTo>
                  <a:pt x="0" y="12956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417683" y="4357687"/>
            <a:ext cx="6806379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1" i="1">
                <a:solidFill>
                  <a:srgbClr val="27211E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12224062" y="943926"/>
            <a:ext cx="6211150" cy="8728950"/>
          </a:xfrm>
          <a:custGeom>
            <a:avLst/>
            <a:gdLst/>
            <a:ahLst/>
            <a:cxnLst/>
            <a:rect l="l" t="t" r="r" b="b"/>
            <a:pathLst>
              <a:path w="6211150" h="8728950">
                <a:moveTo>
                  <a:pt x="0" y="0"/>
                </a:moveTo>
                <a:lnTo>
                  <a:pt x="6211150" y="0"/>
                </a:lnTo>
                <a:lnTo>
                  <a:pt x="6211150" y="8728950"/>
                </a:lnTo>
                <a:lnTo>
                  <a:pt x="0" y="8728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693050" y="8006900"/>
            <a:ext cx="7742148" cy="2273800"/>
          </a:xfrm>
          <a:custGeom>
            <a:avLst/>
            <a:gdLst/>
            <a:ahLst/>
            <a:cxnLst/>
            <a:rect l="l" t="t" r="r" b="b"/>
            <a:pathLst>
              <a:path w="7742148" h="2273800">
                <a:moveTo>
                  <a:pt x="0" y="0"/>
                </a:moveTo>
                <a:lnTo>
                  <a:pt x="7742148" y="0"/>
                </a:lnTo>
                <a:lnTo>
                  <a:pt x="7742148" y="2273800"/>
                </a:lnTo>
                <a:lnTo>
                  <a:pt x="0" y="2273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D710D-5995-C6C6-87B9-A08BC160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1251</Words>
  <Application>Microsoft Office PowerPoint</Application>
  <PresentationFormat>Custom</PresentationFormat>
  <Paragraphs>277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DM Sans</vt:lpstr>
      <vt:lpstr>DM Sans Bold</vt:lpstr>
      <vt:lpstr>Arimo</vt:lpstr>
      <vt:lpstr>Arial</vt:lpstr>
      <vt:lpstr>Arimo Bold Italics</vt:lpstr>
      <vt:lpstr>Calibri Light</vt:lpstr>
      <vt:lpstr>Arimo Bold</vt:lpstr>
      <vt:lpstr>Calibri</vt:lpstr>
      <vt:lpstr>Canva Sans Bold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Forests &amp; Jungles_ Consequences of Deforestation by Slidesgo.pptx</dc:title>
  <dc:creator>Asus</dc:creator>
  <cp:lastModifiedBy>Asus</cp:lastModifiedBy>
  <cp:revision>7</cp:revision>
  <dcterms:created xsi:type="dcterms:W3CDTF">2006-08-16T00:00:00Z</dcterms:created>
  <dcterms:modified xsi:type="dcterms:W3CDTF">2026-05-04T16:48:51Z</dcterms:modified>
  <dc:identifier>DAHIVeOLkAM</dc:identifier>
</cp:coreProperties>
</file>